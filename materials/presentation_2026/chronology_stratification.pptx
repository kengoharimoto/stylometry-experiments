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 MBh 12 and 13 nicely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one more data point to the intrigue.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2834640"/>
            <a:ext cx="10332720" cy="1097280"/>
          </a:xfrm>
          <a:prstGeom prst="rect">
            <a:avLst/>
          </a:prstGeom>
          <a:noFill/>
          <a:ln/>
        </p:spPr>
        <p:txBody>
          <a:bodyPr wrap="square" rtlCol="0" anchor="ctr"/>
          <a:lstStyle/>
          <a:p>
            <a:pPr algn="ctr" indent="0" marL="0">
              <a:buNone/>
            </a:pPr>
            <a:r>
              <a:rPr lang="en-US" sz="3200" b="1" dirty="0">
                <a:solidFill>
                  <a:srgbClr val="222222"/>
                </a:solidFill>
                <a:latin typeface="SF Pro Display" pitchFamily="34" charset="0"/>
                <a:ea typeface="SF Pro Display" pitchFamily="34" charset="-122"/>
                <a:cs typeface="SF Pro Display" pitchFamily="34" charset="-120"/>
              </a:rPr>
              <a:t>Take a look at the next slide</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was that?</a:t>
            </a:r>
            <a:endParaRPr lang="en-US" sz="3000" dirty="0"/>
          </a:p>
        </p:txBody>
      </p:sp>
      <p:sp>
        <p:nvSpPr>
          <p:cNvPr id="4" name="Text 2"/>
          <p:cNvSpPr/>
          <p:nvPr/>
        </p:nvSpPr>
        <p:spPr>
          <a:xfrm>
            <a:off x="822960" y="1481328"/>
            <a:ext cx="105156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This map was drawn by counting linguistic habits — nothing else</a:t>
            </a:r>
            <a:endParaRPr lang="en-US" sz="1900" dirty="0"/>
          </a:p>
        </p:txBody>
      </p:sp>
      <p:sp>
        <p:nvSpPr>
          <p:cNvPr id="5" name="Shape 3"/>
          <p:cNvSpPr/>
          <p:nvPr/>
        </p:nvSpPr>
        <p:spPr>
          <a:xfrm>
            <a:off x="822960" y="2057400"/>
            <a:ext cx="6126480" cy="3063240"/>
          </a:xfrm>
          <a:prstGeom prst="roundRect">
            <a:avLst>
              <a:gd name="adj" fmla="val 2090"/>
            </a:avLst>
          </a:prstGeom>
          <a:solidFill>
            <a:srgbClr val="EAF1F9"/>
          </a:solidFill>
          <a:ln w="3175">
            <a:solidFill>
              <a:srgbClr val="EAF1F9"/>
            </a:solidFill>
            <a:prstDash val="solid"/>
          </a:ln>
        </p:spPr>
      </p:sp>
      <p:sp>
        <p:nvSpPr>
          <p:cNvPr id="6" name="Shape 4"/>
          <p:cNvSpPr/>
          <p:nvPr/>
        </p:nvSpPr>
        <p:spPr>
          <a:xfrm>
            <a:off x="1325880" y="2478024"/>
            <a:ext cx="137160" cy="137160"/>
          </a:xfrm>
          <a:prstGeom prst="ellipse">
            <a:avLst/>
          </a:prstGeom>
          <a:solidFill>
            <a:srgbClr val="1F5FA8"/>
          </a:solidFill>
          <a:ln/>
        </p:spPr>
      </p:sp>
      <p:sp>
        <p:nvSpPr>
          <p:cNvPr id="7" name="Text 5"/>
          <p:cNvSpPr/>
          <p:nvPr/>
        </p:nvSpPr>
        <p:spPr>
          <a:xfrm>
            <a:off x="1691640" y="2331720"/>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dates imposed</a:t>
            </a:r>
            <a:endParaRPr lang="en-US" sz="2200" dirty="0"/>
          </a:p>
        </p:txBody>
      </p:sp>
      <p:sp>
        <p:nvSpPr>
          <p:cNvPr id="8" name="Shape 6"/>
          <p:cNvSpPr/>
          <p:nvPr/>
        </p:nvSpPr>
        <p:spPr>
          <a:xfrm>
            <a:off x="1325880" y="3136392"/>
            <a:ext cx="137160" cy="137160"/>
          </a:xfrm>
          <a:prstGeom prst="ellipse">
            <a:avLst/>
          </a:prstGeom>
          <a:solidFill>
            <a:srgbClr val="1F5FA8"/>
          </a:solidFill>
          <a:ln/>
        </p:spPr>
      </p:sp>
      <p:sp>
        <p:nvSpPr>
          <p:cNvPr id="9" name="Text 7"/>
          <p:cNvSpPr/>
          <p:nvPr/>
        </p:nvSpPr>
        <p:spPr>
          <a:xfrm>
            <a:off x="1691640" y="2990088"/>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chronology considered</a:t>
            </a:r>
            <a:endParaRPr lang="en-US" sz="2200" dirty="0"/>
          </a:p>
        </p:txBody>
      </p:sp>
      <p:sp>
        <p:nvSpPr>
          <p:cNvPr id="10" name="Shape 8"/>
          <p:cNvSpPr/>
          <p:nvPr/>
        </p:nvSpPr>
        <p:spPr>
          <a:xfrm>
            <a:off x="1325880" y="3794760"/>
            <a:ext cx="137160" cy="137160"/>
          </a:xfrm>
          <a:prstGeom prst="ellipse">
            <a:avLst/>
          </a:prstGeom>
          <a:solidFill>
            <a:srgbClr val="1F5FA8"/>
          </a:solidFill>
          <a:ln/>
        </p:spPr>
      </p:sp>
      <p:sp>
        <p:nvSpPr>
          <p:cNvPr id="11" name="Text 9"/>
          <p:cNvSpPr/>
          <p:nvPr/>
        </p:nvSpPr>
        <p:spPr>
          <a:xfrm>
            <a:off x="1691640" y="3648456"/>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philological judgment made</a:t>
            </a:r>
            <a:endParaRPr lang="en-US" sz="2200" dirty="0"/>
          </a:p>
        </p:txBody>
      </p:sp>
      <p:sp>
        <p:nvSpPr>
          <p:cNvPr id="12" name="Shape 10"/>
          <p:cNvSpPr/>
          <p:nvPr/>
        </p:nvSpPr>
        <p:spPr>
          <a:xfrm>
            <a:off x="1325880" y="4453128"/>
            <a:ext cx="137160" cy="137160"/>
          </a:xfrm>
          <a:prstGeom prst="ellipse">
            <a:avLst/>
          </a:prstGeom>
          <a:solidFill>
            <a:srgbClr val="1F5FA8"/>
          </a:solidFill>
          <a:ln/>
        </p:spPr>
      </p:sp>
      <p:sp>
        <p:nvSpPr>
          <p:cNvPr id="13" name="Text 11"/>
          <p:cNvSpPr/>
          <p:nvPr/>
        </p:nvSpPr>
        <p:spPr>
          <a:xfrm>
            <a:off x="1691640" y="4306824"/>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only the colors were painted on afterwards</a:t>
            </a:r>
            <a:endParaRPr lang="en-US" sz="2200" dirty="0"/>
          </a:p>
        </p:txBody>
      </p:sp>
      <p:sp>
        <p:nvSpPr>
          <p:cNvPr id="14" name="Text 1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822960" y="2148840"/>
            <a:ext cx="10515600" cy="1463040"/>
          </a:xfrm>
          <a:prstGeom prst="roundRect">
            <a:avLst>
              <a:gd name="adj" fmla="val 4375"/>
            </a:avLst>
          </a:prstGeom>
          <a:solidFill>
            <a:srgbClr val="EAF1F9"/>
          </a:solidFill>
          <a:ln w="3175">
            <a:solidFill>
              <a:srgbClr val="EAF1F9"/>
            </a:solidFill>
            <a:prstDash val="solid"/>
          </a:ln>
        </p:spPr>
      </p:sp>
      <p:sp>
        <p:nvSpPr>
          <p:cNvPr id="5" name="Shape 3"/>
          <p:cNvSpPr/>
          <p:nvPr/>
        </p:nvSpPr>
        <p:spPr>
          <a:xfrm>
            <a:off x="1234440" y="2551176"/>
            <a:ext cx="658368" cy="658368"/>
          </a:xfrm>
          <a:prstGeom prst="ellipse">
            <a:avLst/>
          </a:prstGeom>
          <a:solidFill>
            <a:srgbClr val="1F5FA8"/>
          </a:solidFill>
          <a:ln/>
        </p:spPr>
      </p:sp>
      <p:sp>
        <p:nvSpPr>
          <p:cNvPr id="6" name="Text 4"/>
          <p:cNvSpPr/>
          <p:nvPr/>
        </p:nvSpPr>
        <p:spPr>
          <a:xfrm>
            <a:off x="1234440" y="25511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1</a:t>
            </a:r>
            <a:endParaRPr lang="en-US" sz="2400" dirty="0"/>
          </a:p>
        </p:txBody>
      </p:sp>
      <p:sp>
        <p:nvSpPr>
          <p:cNvPr id="7" name="Text 5"/>
          <p:cNvSpPr/>
          <p:nvPr/>
        </p:nvSpPr>
        <p:spPr>
          <a:xfrm>
            <a:off x="2286000" y="21488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What exactly was counted?</a:t>
            </a:r>
            <a:endParaRPr lang="en-US" sz="2200" dirty="0"/>
          </a:p>
        </p:txBody>
      </p:sp>
      <p:sp>
        <p:nvSpPr>
          <p:cNvPr id="8" name="Shape 6"/>
          <p:cNvSpPr/>
          <p:nvPr/>
        </p:nvSpPr>
        <p:spPr>
          <a:xfrm>
            <a:off x="822960" y="3977640"/>
            <a:ext cx="10515600" cy="1463040"/>
          </a:xfrm>
          <a:prstGeom prst="roundRect">
            <a:avLst>
              <a:gd name="adj" fmla="val 4375"/>
            </a:avLst>
          </a:prstGeom>
          <a:solidFill>
            <a:srgbClr val="EAF1F9"/>
          </a:solidFill>
          <a:ln w="3175">
            <a:solidFill>
              <a:srgbClr val="EAF1F9"/>
            </a:solidFill>
            <a:prstDash val="solid"/>
          </a:ln>
        </p:spPr>
      </p:sp>
      <p:sp>
        <p:nvSpPr>
          <p:cNvPr id="9" name="Shape 7"/>
          <p:cNvSpPr/>
          <p:nvPr/>
        </p:nvSpPr>
        <p:spPr>
          <a:xfrm>
            <a:off x="1234440" y="4379976"/>
            <a:ext cx="658368" cy="658368"/>
          </a:xfrm>
          <a:prstGeom prst="ellipse">
            <a:avLst/>
          </a:prstGeom>
          <a:solidFill>
            <a:srgbClr val="1F5FA8"/>
          </a:solidFill>
          <a:ln/>
        </p:spPr>
      </p:sp>
      <p:sp>
        <p:nvSpPr>
          <p:cNvPr id="10" name="Text 8"/>
          <p:cNvSpPr/>
          <p:nvPr/>
        </p:nvSpPr>
        <p:spPr>
          <a:xfrm>
            <a:off x="1234440" y="43799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2</a:t>
            </a:r>
            <a:endParaRPr lang="en-US" sz="2400" dirty="0"/>
          </a:p>
        </p:txBody>
      </p:sp>
      <p:sp>
        <p:nvSpPr>
          <p:cNvPr id="11" name="Text 9"/>
          <p:cNvSpPr/>
          <p:nvPr/>
        </p:nvSpPr>
        <p:spPr>
          <a:xfrm>
            <a:off x="2286000" y="39776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Can the left–right axis be trusted —</a:t>
            </a:r>
            <a:endParaRPr lang="en-US" sz="2200" dirty="0"/>
          </a:p>
          <a:p>
            <a:pPr indent="0" marL="0">
              <a:buNone/>
            </a:pPr>
            <a:r>
              <a:rPr lang="en-US" sz="2200" dirty="0">
                <a:solidFill>
                  <a:srgbClr val="222222"/>
                </a:solidFill>
                <a:latin typeface="SF Pro Text" pitchFamily="34" charset="0"/>
                <a:ea typeface="SF Pro Text" pitchFamily="34" charset="-122"/>
                <a:cs typeface="SF Pro Text" pitchFamily="34" charset="-120"/>
              </a:rPr>
              <a:t>and what good does it do if it is?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 111 texts and sections · ≈ 4.8 million words</a:t>
            </a:r>
            <a:endParaRPr lang="en-US" sz="3000" dirty="0"/>
          </a:p>
        </p:txBody>
      </p:sp>
      <p:sp>
        <p:nvSpPr>
          <p:cNvPr id="4" name="Shape 2"/>
          <p:cNvSpPr/>
          <p:nvPr/>
        </p:nvSpPr>
        <p:spPr>
          <a:xfrm>
            <a:off x="822960" y="1783080"/>
            <a:ext cx="3200400" cy="1828800"/>
          </a:xfrm>
          <a:prstGeom prst="roundRect">
            <a:avLst>
              <a:gd name="adj" fmla="val 3500"/>
            </a:avLst>
          </a:prstGeom>
          <a:solidFill>
            <a:srgbClr val="EAF1F9"/>
          </a:solidFill>
          <a:ln w="3175">
            <a:solidFill>
              <a:srgbClr val="EAF1F9"/>
            </a:solidFill>
            <a:prstDash val="solid"/>
          </a:ln>
        </p:spPr>
      </p:sp>
      <p:sp>
        <p:nvSpPr>
          <p:cNvPr id="5" name="Text 3"/>
          <p:cNvSpPr/>
          <p:nvPr/>
        </p:nvSpPr>
        <p:spPr>
          <a:xfrm>
            <a:off x="8229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111</a:t>
            </a:r>
            <a:endParaRPr lang="en-US" sz="4400" dirty="0"/>
          </a:p>
        </p:txBody>
      </p:sp>
      <p:sp>
        <p:nvSpPr>
          <p:cNvPr id="6" name="Text 4"/>
          <p:cNvSpPr/>
          <p:nvPr/>
        </p:nvSpPr>
        <p:spPr>
          <a:xfrm>
            <a:off x="9601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texts and sections</a:t>
            </a:r>
            <a:endParaRPr lang="en-US" sz="1400" dirty="0"/>
          </a:p>
        </p:txBody>
      </p:sp>
      <p:sp>
        <p:nvSpPr>
          <p:cNvPr id="7" name="Shape 5"/>
          <p:cNvSpPr/>
          <p:nvPr/>
        </p:nvSpPr>
        <p:spPr>
          <a:xfrm>
            <a:off x="4480560" y="1783080"/>
            <a:ext cx="3200400" cy="1828800"/>
          </a:xfrm>
          <a:prstGeom prst="roundRect">
            <a:avLst>
              <a:gd name="adj" fmla="val 3500"/>
            </a:avLst>
          </a:prstGeom>
          <a:solidFill>
            <a:srgbClr val="EAF1F9"/>
          </a:solidFill>
          <a:ln w="3175">
            <a:solidFill>
              <a:srgbClr val="EAF1F9"/>
            </a:solidFill>
            <a:prstDash val="solid"/>
          </a:ln>
        </p:spPr>
      </p:sp>
      <p:sp>
        <p:nvSpPr>
          <p:cNvPr id="8" name="Text 6"/>
          <p:cNvSpPr/>
          <p:nvPr/>
        </p:nvSpPr>
        <p:spPr>
          <a:xfrm>
            <a:off x="44805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4.8 M</a:t>
            </a:r>
            <a:endParaRPr lang="en-US" sz="4400" dirty="0"/>
          </a:p>
        </p:txBody>
      </p:sp>
      <p:sp>
        <p:nvSpPr>
          <p:cNvPr id="9" name="Text 7"/>
          <p:cNvSpPr/>
          <p:nvPr/>
        </p:nvSpPr>
        <p:spPr>
          <a:xfrm>
            <a:off x="46177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running words</a:t>
            </a:r>
            <a:endParaRPr lang="en-US" sz="1400" dirty="0"/>
          </a:p>
        </p:txBody>
      </p:sp>
      <p:sp>
        <p:nvSpPr>
          <p:cNvPr id="10" name="Shape 8"/>
          <p:cNvSpPr/>
          <p:nvPr/>
        </p:nvSpPr>
        <p:spPr>
          <a:xfrm>
            <a:off x="8138160" y="1783080"/>
            <a:ext cx="3200400" cy="1828800"/>
          </a:xfrm>
          <a:prstGeom prst="roundRect">
            <a:avLst>
              <a:gd name="adj" fmla="val 3500"/>
            </a:avLst>
          </a:prstGeom>
          <a:solidFill>
            <a:srgbClr val="EAF1F9"/>
          </a:solidFill>
          <a:ln w="3175">
            <a:solidFill>
              <a:srgbClr val="EAF1F9"/>
            </a:solidFill>
            <a:prstDash val="solid"/>
          </a:ln>
        </p:spPr>
      </p:sp>
      <p:sp>
        <p:nvSpPr>
          <p:cNvPr id="11" name="Text 9"/>
          <p:cNvSpPr/>
          <p:nvPr/>
        </p:nvSpPr>
        <p:spPr>
          <a:xfrm>
            <a:off x="81381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2</a:t>
            </a:r>
            <a:endParaRPr lang="en-US" sz="4400" dirty="0"/>
          </a:p>
        </p:txBody>
      </p:sp>
      <p:sp>
        <p:nvSpPr>
          <p:cNvPr id="12" name="Text 10"/>
          <p:cNvSpPr/>
          <p:nvPr/>
        </p:nvSpPr>
        <p:spPr>
          <a:xfrm>
            <a:off x="82753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parallel versions:</a:t>
            </a:r>
            <a:endParaRPr lang="en-US" sz="1400" dirty="0"/>
          </a:p>
          <a:p>
            <a:pPr algn="ctr" indent="0" marL="0">
              <a:buNone/>
            </a:pPr>
            <a:r>
              <a:rPr lang="en-US" sz="1400" dirty="0">
                <a:solidFill>
                  <a:srgbClr val="555555"/>
                </a:solidFill>
                <a:latin typeface="SF Pro Text" pitchFamily="34" charset="0"/>
                <a:ea typeface="SF Pro Text" pitchFamily="34" charset="-122"/>
                <a:cs typeface="SF Pro Text" pitchFamily="34" charset="-120"/>
              </a:rPr>
              <a:t>sandhied · unsandhied</a:t>
            </a:r>
            <a:endParaRPr lang="en-US" sz="1400" dirty="0"/>
          </a:p>
        </p:txBody>
      </p:sp>
      <p:sp>
        <p:nvSpPr>
          <p:cNvPr id="13" name="Text 11"/>
          <p:cNvSpPr/>
          <p:nvPr/>
        </p:nvSpPr>
        <p:spPr>
          <a:xfrm>
            <a:off x="1554480" y="4114800"/>
            <a:ext cx="9418320" cy="1325880"/>
          </a:xfrm>
          <a:prstGeom prst="rect">
            <a:avLst/>
          </a:prstGeom>
          <a:noFill/>
          <a:ln/>
        </p:spPr>
        <p:txBody>
          <a:bodyPr wrap="square" rtlCol="0" anchor="ctr"/>
          <a:lstStyle/>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machine-readable editions, cleaned; two parallel versions of every text — with and without sandhi dissolved</a:t>
            </a:r>
            <a:endParaRPr lang="en-US" sz="1800" dirty="0"/>
          </a:p>
        </p:txBody>
      </p:sp>
      <p:sp>
        <p:nvSpPr>
          <p:cNvPr id="14" name="Text 12"/>
          <p:cNvSpPr/>
          <p:nvPr/>
        </p:nvSpPr>
        <p:spPr>
          <a:xfrm>
            <a:off x="1554480" y="5715000"/>
            <a:ext cx="9418320" cy="548640"/>
          </a:xfrm>
          <a:prstGeom prst="rect">
            <a:avLst/>
          </a:prstGeom>
          <a:noFill/>
          <a:ln/>
        </p:spPr>
        <p:txBody>
          <a:bodyPr wrap="square" lIns="0" tIns="0" rIns="0" bIns="0" rtlCol="0" anchor="ctr"/>
          <a:lstStyle/>
          <a:p>
            <a:pPr indent="0" marL="0">
              <a:buNone/>
            </a:pPr>
            <a:r>
              <a:rPr lang="en-US" sz="135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645920"/>
            <a:ext cx="5669280" cy="4754880"/>
          </a:xfrm>
          <a:prstGeom prst="rect">
            <a:avLst/>
          </a:prstGeom>
          <a:noFill/>
          <a:ln/>
        </p:spPr>
        <p:txBody>
          <a:bodyPr wrap="square" rtlCol="0" anchor="ctr"/>
          <a:lstStyle/>
          <a:p>
            <a:pPr indent="0" marL="0">
              <a:spcAft>
                <a:spcPts val="10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800" dirty="0"/>
          </a:p>
          <a:p>
            <a:pPr indent="0" marL="0">
              <a:spcAft>
                <a:spcPts val="10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800" dirty="0"/>
          </a:p>
          <a:p>
            <a:pPr indent="0" marL="0">
              <a:spcAft>
                <a:spcPts val="1000"/>
              </a:spcAft>
              <a:buNone/>
            </a:pP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similar habits  →  small number</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different habits  →  large number</a:t>
            </a:r>
            <a:endParaRPr lang="en-US" sz="1800" dirty="0"/>
          </a:p>
          <a:p>
            <a:pPr indent="0" marL="0">
              <a:spcAft>
                <a:spcPts val="1000"/>
              </a:spcAft>
              <a:buNone/>
            </a:pPr>
            <a:endParaRPr lang="en-US" sz="1800" dirty="0"/>
          </a:p>
          <a:p>
            <a:pPr indent="0" marL="0">
              <a:spcAft>
                <a:spcPts val="10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800" dirty="0"/>
          </a:p>
          <a:p>
            <a:pPr indent="0" marL="0">
              <a:spcAft>
                <a:spcPts val="1000"/>
              </a:spcAft>
              <a:buNone/>
            </a:pPr>
            <a:r>
              <a:rPr lang="en-US" sz="1350" i="1" dirty="0">
                <a:solidFill>
                  <a:srgbClr val="777777"/>
                </a:solidFill>
                <a:latin typeface="SF Pro Text" pitchFamily="34" charset="0"/>
                <a:ea typeface="SF Pro Text" pitchFamily="34" charset="-122"/>
                <a:cs typeface="SF Pro Text" pitchFamily="34" charset="-120"/>
              </a:rPr>
              <a:t>(Burrows’s Delta — the standard workhorse of stylometry, in use since 2002)</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766560" y="2697480"/>
          <a:ext cx="4754880" cy="914400"/>
        </p:xfrm>
        <a:graphic>
          <a:graphicData uri="http://schemas.openxmlformats.org/drawingml/2006/table">
            <a:tbl>
              <a:tblPr/>
              <a:tblGrid>
                <a:gridCol w="3474720"/>
                <a:gridCol w="1280160"/>
              </a:tblGrid>
              <a:tr h="530352">
                <a:tc>
                  <a:txBody>
                    <a:bodyPr/>
                    <a:lstStyle/>
                    <a:p>
                      <a:pPr indent="0" marL="0">
                        <a:buNone/>
                      </a:pPr>
                      <a:r>
                        <a:rPr lang="en-US" sz="1500" b="1" dirty="0">
                          <a:solidFill>
                            <a:srgbClr val="16324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500" b="1" dirty="0">
                          <a:solidFill>
                            <a:srgbClr val="16324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88720" y="2148840"/>
          <a:ext cx="9784080" cy="914400"/>
        </p:xfrm>
        <a:graphic>
          <a:graphicData uri="http://schemas.openxmlformats.org/drawingml/2006/table">
            <a:tbl>
              <a:tblPr/>
              <a:tblGrid>
                <a:gridCol w="1371600"/>
                <a:gridCol w="4206240"/>
                <a:gridCol w="4206240"/>
              </a:tblGrid>
              <a:tr h="713232">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
        <p:nvSpPr>
          <p:cNvPr id="5" name="Text 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battle books MBh 6–9 cluster tightly — Droṇa ↔ Karṇa the tightest pair (0.28 ≈ ¼ of a typical distance)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MBh 12–13 (Śānti, Anuśāsana): mutual nearest neighbours — and drifted toward purāṇa-space...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Rām 2–6 hold together; Bāla(R1)’s nearest neighbour is the Uttara(R7)... — in both lenses</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stratification of higher criticism, recovered blind.</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Vāyu ↔ Brahmāṇḍa: 0.28 — a quarter of a typical distance. Kirfel’s single Vāyuproktaṃ Purāṇam, as a number.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Matsya’s cosmogonic chapters sit with them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indent="0" marL="0">
              <a:spcAft>
                <a:spcPts val="400"/>
              </a:spcAft>
              <a:buNone/>
            </a:pPr>
            <a:r>
              <a:rPr lang="en-US" sz="1150" b="1" dirty="0">
                <a:solidFill>
                  <a:srgbClr val="222222"/>
                </a:solidFill>
                <a:latin typeface="SF Pro Text" pitchFamily="34" charset="0"/>
                <a:ea typeface="SF Pro Text" pitchFamily="34" charset="-122"/>
                <a:cs typeface="SF Pro Text" pitchFamily="34" charset="-120"/>
              </a:rPr>
              <a:t>The Skāndamahāpurāṇa, plotted khaṇḍa by khaṇḍa:</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0 of 4 khaṇḍas have their nearest neighbour inside the Skāndamahāpurāṇa — in either lens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reuse scan finds they share no text with one another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each khaṇḍa is a full-sized text — the length caveat does not apply</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What connects them is a phrase in the colophons: (śrī)skānde mahāpurāṇe.</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Śivapurāṇa tells the same story, saṃhitā by saṃhitā (3 of 8 internal in the word lens, 4 of 8 in the 3-gram lens). Compare the Bhāgavata on the next slide — cohesion is measurable.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indent="0" marL="0">
              <a:spcAft>
                <a:spcPts val="400"/>
              </a:spcAft>
              <a:buNone/>
            </a:pPr>
            <a:r>
              <a:rPr lang="en-US" sz="1150" b="1" dirty="0">
                <a:solidFill>
                  <a:srgbClr val="222222"/>
                </a:solidFill>
                <a:latin typeface="SF Pro Text" pitchFamily="34" charset="0"/>
                <a:ea typeface="SF Pro Text" pitchFamily="34" charset="-122"/>
                <a:cs typeface="SF Pro Text" pitchFamily="34" charset="-120"/>
              </a:rPr>
              <a:t>The Bhāgavatapurāṇa, plotted skandha by skandha:</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archaic features noticed for over a century — its date has already been in dispute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apparently a very unique composition according to our map, virtually no contacts with any of the epic or purāṇas</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Shape 2"/>
          <p:cNvSpPr/>
          <p:nvPr/>
        </p:nvSpPr>
        <p:spPr>
          <a:xfrm>
            <a:off x="822960" y="1892808"/>
            <a:ext cx="10698480" cy="786384"/>
          </a:xfrm>
          <a:prstGeom prst="roundRect">
            <a:avLst>
              <a:gd name="adj" fmla="val 8140"/>
            </a:avLst>
          </a:prstGeom>
          <a:solidFill>
            <a:srgbClr val="F4F8FC"/>
          </a:solidFill>
          <a:ln w="3175">
            <a:solidFill>
              <a:srgbClr val="F4F8FC"/>
            </a:solidFill>
            <a:prstDash val="solid"/>
          </a:ln>
        </p:spPr>
      </p:sp>
      <p:sp>
        <p:nvSpPr>
          <p:cNvPr id="5" name="Text 3"/>
          <p:cNvSpPr/>
          <p:nvPr/>
        </p:nvSpPr>
        <p:spPr>
          <a:xfrm>
            <a:off x="1143000" y="19659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6" name="Text 4"/>
          <p:cNvSpPr/>
          <p:nvPr/>
        </p:nvSpPr>
        <p:spPr>
          <a:xfrm>
            <a:off x="5669280" y="19659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7" name="Text 5"/>
          <p:cNvSpPr/>
          <p:nvPr/>
        </p:nvSpPr>
        <p:spPr>
          <a:xfrm>
            <a:off x="6400800" y="19659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8" name="Text 6"/>
          <p:cNvSpPr/>
          <p:nvPr/>
        </p:nvSpPr>
        <p:spPr>
          <a:xfrm>
            <a:off x="1143000" y="28803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9" name="Text 7"/>
          <p:cNvSpPr/>
          <p:nvPr/>
        </p:nvSpPr>
        <p:spPr>
          <a:xfrm>
            <a:off x="5669280" y="28803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0" name="Text 8"/>
          <p:cNvSpPr/>
          <p:nvPr/>
        </p:nvSpPr>
        <p:spPr>
          <a:xfrm>
            <a:off x="6400800" y="28803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1" name="Shape 9"/>
          <p:cNvSpPr/>
          <p:nvPr/>
        </p:nvSpPr>
        <p:spPr>
          <a:xfrm>
            <a:off x="822960" y="3721608"/>
            <a:ext cx="10698480" cy="786384"/>
          </a:xfrm>
          <a:prstGeom prst="roundRect">
            <a:avLst>
              <a:gd name="adj" fmla="val 8140"/>
            </a:avLst>
          </a:prstGeom>
          <a:solidFill>
            <a:srgbClr val="F4F8FC"/>
          </a:solidFill>
          <a:ln w="3175">
            <a:solidFill>
              <a:srgbClr val="F4F8FC"/>
            </a:solidFill>
            <a:prstDash val="solid"/>
          </a:ln>
        </p:spPr>
      </p:sp>
      <p:sp>
        <p:nvSpPr>
          <p:cNvPr id="12" name="Text 10"/>
          <p:cNvSpPr/>
          <p:nvPr/>
        </p:nvSpPr>
        <p:spPr>
          <a:xfrm>
            <a:off x="1143000" y="37947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3" name="Text 11"/>
          <p:cNvSpPr/>
          <p:nvPr/>
        </p:nvSpPr>
        <p:spPr>
          <a:xfrm>
            <a:off x="5669280" y="37947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4" name="Text 12"/>
          <p:cNvSpPr/>
          <p:nvPr/>
        </p:nvSpPr>
        <p:spPr>
          <a:xfrm>
            <a:off x="6400800" y="37947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5" name="Text 13"/>
          <p:cNvSpPr/>
          <p:nvPr/>
        </p:nvSpPr>
        <p:spPr>
          <a:xfrm>
            <a:off x="822960" y="5175504"/>
            <a:ext cx="10515600" cy="411480"/>
          </a:xfrm>
          <a:prstGeom prst="rect">
            <a:avLst/>
          </a:prstGeom>
          <a:noFill/>
          <a:ln/>
        </p:spPr>
        <p:txBody>
          <a:bodyPr wrap="square" lIns="0" tIns="0" rIns="0" bIns="0" rtlCol="0" anchor="ctr"/>
          <a:lstStyle/>
          <a:p>
            <a:pPr algn="ctr" indent="0" marL="0">
              <a:buNone/>
            </a:pPr>
            <a:r>
              <a:rPr lang="en-US" sz="1600" dirty="0">
                <a:solidFill>
                  <a:srgbClr val="555555"/>
                </a:solidFill>
                <a:latin typeface="SF Pro Text" pitchFamily="34" charset="0"/>
                <a:ea typeface="SF Pro Text" pitchFamily="34" charset="-122"/>
                <a:cs typeface="SF Pro Text" pitchFamily="34" charset="-120"/>
              </a:rPr>
              <a:t>The lenses share almost no assumptions — yet draw the same axis.</a:t>
            </a:r>
            <a:endParaRPr lang="en-US" sz="1600" dirty="0"/>
          </a:p>
        </p:txBody>
      </p:sp>
      <p:sp>
        <p:nvSpPr>
          <p:cNvPr id="16" name="Text 14"/>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800" b="1" dirty="0">
                <a:solidFill>
                  <a:srgbClr val="1F5FA8"/>
                </a:solidFill>
                <a:latin typeface="SF Pro Display" pitchFamily="34" charset="0"/>
                <a:ea typeface="SF Pro Display" pitchFamily="34" charset="-122"/>
                <a:cs typeface="SF Pro Display" pitchFamily="34" charset="-120"/>
              </a:rPr>
              <a:t>The signal is in the texts.</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148840"/>
            <a:ext cx="10332720" cy="182880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Shape 3"/>
          <p:cNvSpPr/>
          <p:nvPr/>
        </p:nvSpPr>
        <p:spPr>
          <a:xfrm>
            <a:off x="2011680" y="4572000"/>
            <a:ext cx="8138160" cy="1508760"/>
          </a:xfrm>
          <a:prstGeom prst="roundRect">
            <a:avLst>
              <a:gd name="adj" fmla="val 4242"/>
            </a:avLst>
          </a:prstGeom>
          <a:solidFill>
            <a:srgbClr val="EAF1F9"/>
          </a:solidFill>
          <a:ln w="3175">
            <a:solidFill>
              <a:srgbClr val="EAF1F9"/>
            </a:solidFill>
            <a:prstDash val="solid"/>
          </a:ln>
        </p:spPr>
      </p:sp>
      <p:sp>
        <p:nvSpPr>
          <p:cNvPr id="6" name="Text 4"/>
          <p:cNvSpPr/>
          <p:nvPr/>
        </p:nvSpPr>
        <p:spPr>
          <a:xfrm>
            <a:off x="2011680" y="4572000"/>
            <a:ext cx="8138160" cy="150876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12848"/>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023360" y="2212848"/>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The better author, the less fillers</a:t>
            </a:r>
            <a:endParaRPr lang="en-US" sz="1600" dirty="0"/>
          </a:p>
        </p:txBody>
      </p:sp>
      <p:sp>
        <p:nvSpPr>
          <p:cNvPr id="7" name="Text 5"/>
          <p:cNvSpPr/>
          <p:nvPr/>
        </p:nvSpPr>
        <p:spPr>
          <a:xfrm>
            <a:off x="914400" y="3200400"/>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023360" y="3200400"/>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groups the containers form (See slide B8)</a:t>
            </a:r>
            <a:endParaRPr lang="en-US" sz="1600" dirty="0"/>
          </a:p>
        </p:txBody>
      </p:sp>
      <p:sp>
        <p:nvSpPr>
          <p:cNvPr id="9" name="Text 7"/>
          <p:cNvSpPr/>
          <p:nvPr/>
        </p:nvSpPr>
        <p:spPr>
          <a:xfrm>
            <a:off x="914400" y="4187952"/>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023360" y="4187952"/>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822960" y="5349240"/>
            <a:ext cx="10515600" cy="1097280"/>
          </a:xfrm>
          <a:prstGeom prst="roundRect">
            <a:avLst>
              <a:gd name="adj" fmla="val 5833"/>
            </a:avLst>
          </a:prstGeom>
          <a:solidFill>
            <a:srgbClr val="F4F8FC"/>
          </a:solidFill>
          <a:ln w="3175">
            <a:solidFill>
              <a:srgbClr val="F4F8FC"/>
            </a:solidFill>
            <a:prstDash val="solid"/>
          </a:ln>
        </p:spPr>
      </p:sp>
      <p:sp>
        <p:nvSpPr>
          <p:cNvPr id="12" name="Text 10"/>
          <p:cNvSpPr/>
          <p:nvPr/>
        </p:nvSpPr>
        <p:spPr>
          <a:xfrm>
            <a:off x="1097280" y="5349240"/>
            <a:ext cx="9966960" cy="109728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Those are exactly the parvans whose relative dates are contested; also, look at where the Śivadharmaśāstra and the Śivadharmottara are positioned in the map. The purāṇas that are known to incorporate them are very much to the left.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1920240"/>
            <a:ext cx="10332720" cy="4572000"/>
          </a:xfrm>
          <a:prstGeom prst="rect">
            <a:avLst/>
          </a:prstGeom>
          <a:noFill/>
          <a:ln/>
        </p:spPr>
        <p:txBody>
          <a:bodyPr wrap="square" rtlCol="0" anchor="t"/>
          <a:lstStyle/>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Our lenses confirm some things that we had suspected: The relative age of the epics; the didactic portions of the MBh being late; the affinity of certain purāṇas; relative age of uncontaminated Purāṇas (Skandapurāṇa)</a:t>
            </a:r>
            <a:endParaRPr lang="en-US" sz="1550" dirty="0"/>
          </a:p>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At the same time, they illuminate contentious issues: relative dates of the closing parvans of the Mahābhārata; relative age of the Mahābhārata and the Rāmāyaṇa (well, they show up at about the same place, so, our map also confirms long suspected their being composed about the same time)</a:t>
            </a:r>
            <a:endParaRPr lang="en-US" sz="1550" dirty="0"/>
          </a:p>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It will not date your text; it will tell you whose company it keeps</a:t>
            </a:r>
            <a:endParaRPr lang="en-US" sz="1550" dirty="0"/>
          </a:p>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It also tells us where interesting things are happening; it is about time someone gives serious thought about the uniqueness of the Bhāgavatapurāṇa again; someone should look for unprecedented approaches to settle the questions of the composition, not integration date of the closing parvans of the Mahābhārata; do some fine grained research of the provenance of the Bhaviṣyapurāṇa, etc., etc., ...</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used in the grid: Cosine Delta (angle instead of average), min-max and Manhattan (raw-frequency geometry)</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short sections have noisy profiles → inflated distances, positions unreliable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Disagreement between lenses flags preprocessing problems — it does not hide them.</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
        <p:nvSpPr>
          <p:cNvPr id="3" name="Shape 0"/>
          <p:cNvSpPr/>
          <p:nvPr/>
        </p:nvSpPr>
        <p:spPr>
          <a:xfrm>
            <a:off x="7818120" y="109728"/>
            <a:ext cx="4160520" cy="2514600"/>
          </a:xfrm>
          <a:prstGeom prst="rect">
            <a:avLst/>
          </a:prstGeom>
          <a:solidFill>
            <a:srgbClr val="FFFFFF">
              <a:alpha val="96000"/>
            </a:srgbClr>
          </a:solidFill>
          <a:ln w="9525">
            <a:solidFill>
              <a:srgbClr val="C8C8C8"/>
            </a:solidFill>
            <a:prstDash val="solid"/>
          </a:ln>
        </p:spPr>
      </p:sp>
      <p:sp>
        <p:nvSpPr>
          <p:cNvPr id="4" name="Text 1"/>
          <p:cNvSpPr/>
          <p:nvPr/>
        </p:nvSpPr>
        <p:spPr>
          <a:xfrm>
            <a:off x="7818120" y="109728"/>
            <a:ext cx="4160520" cy="2514600"/>
          </a:xfrm>
          <a:prstGeom prst="rect">
            <a:avLst/>
          </a:prstGeom>
          <a:noFill/>
          <a:ln/>
        </p:spPr>
        <p:txBody>
          <a:bodyPr wrap="square" lIns="101600" tIns="101600" rIns="101600" bIns="101600" rtlCol="0" anchor="ctr"/>
          <a:lstStyle/>
          <a:p>
            <a:pPr indent="0" marL="0">
              <a:spcAft>
                <a:spcPts val="400"/>
              </a:spcAft>
              <a:buNone/>
            </a:pPr>
            <a:r>
              <a:rPr lang="en-US" sz="950" b="1" dirty="0">
                <a:solidFill>
                  <a:srgbClr val="222222"/>
                </a:solidFill>
                <a:latin typeface="SF Pro Text" pitchFamily="34" charset="0"/>
                <a:ea typeface="SF Pro Text" pitchFamily="34" charset="-122"/>
                <a:cs typeface="SF Pro Text" pitchFamily="34" charset="-120"/>
              </a:rPr>
              <a:t>The Bhaviṣyapurāṇa, scanned pāda-by-pāda against the whole e-text library:</a:t>
            </a:r>
            <a:endParaRPr lang="en-US" sz="950" dirty="0"/>
          </a:p>
          <a:p>
            <a:pPr marL="152400" indent="-152400">
              <a:spcAft>
                <a:spcPts val="400"/>
              </a:spcAft>
              <a:buSzPct val="100000"/>
              <a:buChar char="•"/>
            </a:pPr>
            <a:r>
              <a:rPr lang="en-US" sz="950" dirty="0">
                <a:solidFill>
                  <a:srgbClr val="222222"/>
                </a:solidFill>
                <a:latin typeface="SF Pro Text" pitchFamily="34" charset="0"/>
                <a:ea typeface="SF Pro Text" pitchFamily="34" charset="-122"/>
                <a:cs typeface="SF Pro Text" pitchFamily="34" charset="-120"/>
              </a:rPr>
              <a:t>47% of its pāda-units occur in other texts (Brāhmaparvan 38%, Uttaraparvan 59%)</a:t>
            </a:r>
            <a:endParaRPr lang="en-US" sz="950" dirty="0"/>
          </a:p>
          <a:p>
            <a:pPr marL="152400" indent="-152400">
              <a:spcAft>
                <a:spcPts val="400"/>
              </a:spcAft>
              <a:buSzPct val="100000"/>
              <a:buChar char="•"/>
            </a:pPr>
            <a:r>
              <a:rPr lang="en-US" sz="950" dirty="0">
                <a:solidFill>
                  <a:srgbClr val="222222"/>
                </a:solidFill>
                <a:latin typeface="SF Pro Text" pitchFamily="34" charset="0"/>
                <a:ea typeface="SF Pro Text" pitchFamily="34" charset="-122"/>
                <a:cs typeface="SF Pro Text" pitchFamily="34" charset="-120"/>
              </a:rPr>
              <a:t>the borrowing is block-wise and source-datable: Manusmṛti swallowed whole, the Sāmbapurāṇa’s saura corpus, Śivadharmaśāstra &amp; -ottara, Bṛhatsaṃhitā, Matsya-type vrata blocks — and a physiognomy block shared with the Buddhist Śārdūlakarṇāvadāna</a:t>
            </a:r>
            <a:endParaRPr lang="en-US" sz="950" dirty="0"/>
          </a:p>
          <a:p>
            <a:pPr marL="152400" indent="-152400">
              <a:spcAft>
                <a:spcPts val="400"/>
              </a:spcAft>
              <a:buSzPct val="100000"/>
              <a:buChar char="•"/>
            </a:pPr>
            <a:r>
              <a:rPr lang="en-US" sz="950" dirty="0">
                <a:solidFill>
                  <a:srgbClr val="222222"/>
                </a:solidFill>
                <a:latin typeface="SF Pro Text" pitchFamily="34" charset="0"/>
                <a:ea typeface="SF Pro Text" pitchFamily="34" charset="-122"/>
                <a:cs typeface="SF Pro Text" pitchFamily="34" charset="-120"/>
              </a:rPr>
              <a:t>whole stretches match nothing — a genuine own-text residue in between</a:t>
            </a:r>
            <a:endParaRPr lang="en-US" sz="950" dirty="0"/>
          </a:p>
          <a:p>
            <a:pPr indent="0" marL="0">
              <a:spcAft>
                <a:spcPts val="400"/>
              </a:spcAft>
              <a:buNone/>
            </a:pPr>
            <a:r>
              <a:rPr lang="en-US" sz="950" i="1" dirty="0">
                <a:solidFill>
                  <a:srgbClr val="555555"/>
                </a:solidFill>
                <a:latin typeface="SF Pro Text" pitchFamily="34" charset="0"/>
                <a:ea typeface="SF Pro Text" pitchFamily="34" charset="-122"/>
                <a:cs typeface="SF Pro Text" pitchFamily="34" charset="-120"/>
              </a:rPr>
              <a:t>Not an author’s stratum — a compilation event with datable ingredients.</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2026-07-26T08:20:56Z</dcterms:created>
  <dcterms:modified xsi:type="dcterms:W3CDTF">2026-07-26T08:20:56Z</dcterms:modified>
</cp:coreProperties>
</file>