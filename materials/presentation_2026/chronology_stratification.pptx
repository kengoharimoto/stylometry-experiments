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one more data point to the intrigue.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was that?</a:t>
            </a:r>
            <a:endParaRPr lang="en-US" sz="3000" dirty="0"/>
          </a:p>
        </p:txBody>
      </p:sp>
      <p:sp>
        <p:nvSpPr>
          <p:cNvPr id="4" name="Text 2"/>
          <p:cNvSpPr/>
          <p:nvPr/>
        </p:nvSpPr>
        <p:spPr>
          <a:xfrm>
            <a:off x="822960" y="1481328"/>
            <a:ext cx="105156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This map was drawn by counting linguistic habits — nothing else</a:t>
            </a:r>
            <a:endParaRPr lang="en-US" sz="1900" dirty="0"/>
          </a:p>
        </p:txBody>
      </p:sp>
      <p:sp>
        <p:nvSpPr>
          <p:cNvPr id="5" name="Shape 3"/>
          <p:cNvSpPr/>
          <p:nvPr/>
        </p:nvSpPr>
        <p:spPr>
          <a:xfrm>
            <a:off x="822960" y="2057400"/>
            <a:ext cx="6126480" cy="3063240"/>
          </a:xfrm>
          <a:prstGeom prst="roundRect">
            <a:avLst>
              <a:gd name="adj" fmla="val 2090"/>
            </a:avLst>
          </a:prstGeom>
          <a:solidFill>
            <a:srgbClr val="EAF1F9"/>
          </a:solidFill>
          <a:ln w="3175">
            <a:solidFill>
              <a:srgbClr val="EAF1F9"/>
            </a:solidFill>
            <a:prstDash val="solid"/>
          </a:ln>
        </p:spPr>
      </p:sp>
      <p:sp>
        <p:nvSpPr>
          <p:cNvPr id="6" name="Shape 4"/>
          <p:cNvSpPr/>
          <p:nvPr/>
        </p:nvSpPr>
        <p:spPr>
          <a:xfrm>
            <a:off x="1325880" y="2478024"/>
            <a:ext cx="137160" cy="137160"/>
          </a:xfrm>
          <a:prstGeom prst="ellipse">
            <a:avLst/>
          </a:prstGeom>
          <a:solidFill>
            <a:srgbClr val="1F5FA8"/>
          </a:solidFill>
          <a:ln/>
        </p:spPr>
      </p:sp>
      <p:sp>
        <p:nvSpPr>
          <p:cNvPr id="7" name="Text 5"/>
          <p:cNvSpPr/>
          <p:nvPr/>
        </p:nvSpPr>
        <p:spPr>
          <a:xfrm>
            <a:off x="1691640" y="2331720"/>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dates imposed</a:t>
            </a:r>
            <a:endParaRPr lang="en-US" sz="2200" dirty="0"/>
          </a:p>
        </p:txBody>
      </p:sp>
      <p:sp>
        <p:nvSpPr>
          <p:cNvPr id="8" name="Shape 6"/>
          <p:cNvSpPr/>
          <p:nvPr/>
        </p:nvSpPr>
        <p:spPr>
          <a:xfrm>
            <a:off x="1325880" y="3136392"/>
            <a:ext cx="137160" cy="137160"/>
          </a:xfrm>
          <a:prstGeom prst="ellipse">
            <a:avLst/>
          </a:prstGeom>
          <a:solidFill>
            <a:srgbClr val="1F5FA8"/>
          </a:solidFill>
          <a:ln/>
        </p:spPr>
      </p:sp>
      <p:sp>
        <p:nvSpPr>
          <p:cNvPr id="9" name="Text 7"/>
          <p:cNvSpPr/>
          <p:nvPr/>
        </p:nvSpPr>
        <p:spPr>
          <a:xfrm>
            <a:off x="1691640" y="2990088"/>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chronology considered</a:t>
            </a:r>
            <a:endParaRPr lang="en-US" sz="2200" dirty="0"/>
          </a:p>
        </p:txBody>
      </p:sp>
      <p:sp>
        <p:nvSpPr>
          <p:cNvPr id="10" name="Shape 8"/>
          <p:cNvSpPr/>
          <p:nvPr/>
        </p:nvSpPr>
        <p:spPr>
          <a:xfrm>
            <a:off x="1325880" y="3794760"/>
            <a:ext cx="137160" cy="137160"/>
          </a:xfrm>
          <a:prstGeom prst="ellipse">
            <a:avLst/>
          </a:prstGeom>
          <a:solidFill>
            <a:srgbClr val="1F5FA8"/>
          </a:solidFill>
          <a:ln/>
        </p:spPr>
      </p:sp>
      <p:sp>
        <p:nvSpPr>
          <p:cNvPr id="11" name="Text 9"/>
          <p:cNvSpPr/>
          <p:nvPr/>
        </p:nvSpPr>
        <p:spPr>
          <a:xfrm>
            <a:off x="1691640" y="3648456"/>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philological judgment made</a:t>
            </a:r>
            <a:endParaRPr lang="en-US" sz="2200" dirty="0"/>
          </a:p>
        </p:txBody>
      </p:sp>
      <p:sp>
        <p:nvSpPr>
          <p:cNvPr id="12" name="Shape 10"/>
          <p:cNvSpPr/>
          <p:nvPr/>
        </p:nvSpPr>
        <p:spPr>
          <a:xfrm>
            <a:off x="1325880" y="4453128"/>
            <a:ext cx="137160" cy="137160"/>
          </a:xfrm>
          <a:prstGeom prst="ellipse">
            <a:avLst/>
          </a:prstGeom>
          <a:solidFill>
            <a:srgbClr val="1F5FA8"/>
          </a:solidFill>
          <a:ln/>
        </p:spPr>
      </p:sp>
      <p:sp>
        <p:nvSpPr>
          <p:cNvPr id="13" name="Text 11"/>
          <p:cNvSpPr/>
          <p:nvPr/>
        </p:nvSpPr>
        <p:spPr>
          <a:xfrm>
            <a:off x="1691640" y="4306824"/>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only the colors were painted on afterwards</a:t>
            </a:r>
            <a:endParaRPr lang="en-US" sz="2200" dirty="0"/>
          </a:p>
        </p:txBody>
      </p:sp>
      <p:sp>
        <p:nvSpPr>
          <p:cNvPr id="14" name="Text 1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sp>
      <p:sp>
        <p:nvSpPr>
          <p:cNvPr id="5" name="Shape 3"/>
          <p:cNvSpPr/>
          <p:nvPr/>
        </p:nvSpPr>
        <p:spPr>
          <a:xfrm>
            <a:off x="1234440" y="2551176"/>
            <a:ext cx="658368" cy="658368"/>
          </a:xfrm>
          <a:prstGeom prst="ellipse">
            <a:avLst/>
          </a:prstGeom>
          <a:solidFill>
            <a:srgbClr val="1F5FA8"/>
          </a:solidFill>
          <a:ln/>
        </p:spPr>
      </p:sp>
      <p:sp>
        <p:nvSpPr>
          <p:cNvPr id="6" name="Text 4"/>
          <p:cNvSpPr/>
          <p:nvPr/>
        </p:nvSpPr>
        <p:spPr>
          <a:xfrm>
            <a:off x="1234440" y="25511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sp>
      <p:sp>
        <p:nvSpPr>
          <p:cNvPr id="9" name="Shape 7"/>
          <p:cNvSpPr/>
          <p:nvPr/>
        </p:nvSpPr>
        <p:spPr>
          <a:xfrm>
            <a:off x="1234440" y="4379976"/>
            <a:ext cx="658368" cy="658368"/>
          </a:xfrm>
          <a:prstGeom prst="ellipse">
            <a:avLst/>
          </a:prstGeom>
          <a:solidFill>
            <a:srgbClr val="1F5FA8"/>
          </a:solidFill>
          <a:ln/>
        </p:spPr>
      </p:sp>
      <p:sp>
        <p:nvSpPr>
          <p:cNvPr id="10" name="Text 8"/>
          <p:cNvSpPr/>
          <p:nvPr/>
        </p:nvSpPr>
        <p:spPr>
          <a:xfrm>
            <a:off x="1234440" y="43799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indent="0" marL="0">
              <a:buNone/>
            </a:pPr>
            <a:r>
              <a:rPr lang="en-US" sz="2200" dirty="0">
                <a:solidFill>
                  <a:srgbClr val="222222"/>
                </a:solidFill>
                <a:latin typeface="SF Pro Text" pitchFamily="34" charset="0"/>
                <a:ea typeface="SF Pro Text" pitchFamily="34" charset="-122"/>
                <a:cs typeface="SF Pro Text" pitchFamily="34" charset="-120"/>
              </a:rPr>
              <a:t>and what good does it do if it is?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sp>
      <p:sp>
        <p:nvSpPr>
          <p:cNvPr id="5" name="Text 3"/>
          <p:cNvSpPr/>
          <p:nvPr/>
        </p:nvSpPr>
        <p:spPr>
          <a:xfrm>
            <a:off x="8229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sp>
      <p:sp>
        <p:nvSpPr>
          <p:cNvPr id="8" name="Text 6"/>
          <p:cNvSpPr/>
          <p:nvPr/>
        </p:nvSpPr>
        <p:spPr>
          <a:xfrm>
            <a:off x="44805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sp>
      <p:sp>
        <p:nvSpPr>
          <p:cNvPr id="11" name="Text 9"/>
          <p:cNvSpPr/>
          <p:nvPr/>
        </p:nvSpPr>
        <p:spPr>
          <a:xfrm>
            <a:off x="81381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algn="ctr" indent="0" marL="0">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indent="0" marL="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indent="0" marL="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indent="0" marL="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indent="0" marL="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indent="0" marL="0">
              <a:spcAft>
                <a:spcPts val="1000"/>
              </a:spcAft>
              <a:buNone/>
            </a:pPr>
            <a:endParaRPr lang="en-US" sz="1800" dirty="0"/>
          </a:p>
          <a:p>
            <a:pPr indent="0" marL="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indent="0" marL="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914400"/>
        </p:xfrm>
        <a:graphic>
          <a:graphicData uri="http://schemas.openxmlformats.org/drawingml/2006/table">
            <a:tbl>
              <a:tblPr/>
              <a:tblGrid>
                <a:gridCol w="3474720"/>
                <a:gridCol w="1280160"/>
              </a:tblGrid>
              <a:tr h="530352">
                <a:tc>
                  <a:txBody>
                    <a:bodyPr/>
                    <a:lstStyle/>
                    <a:p>
                      <a:pPr indent="0" marL="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914400"/>
        </p:xfrm>
        <a:graphic>
          <a:graphicData uri="http://schemas.openxmlformats.org/drawingml/2006/table">
            <a:tbl>
              <a:tblPr/>
              <a:tblGrid>
                <a:gridCol w="1371600"/>
                <a:gridCol w="4206240"/>
                <a:gridCol w="4206240"/>
              </a:tblGrid>
              <a:tr h="713232">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 its date has already been in dispute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apparently a very unique composition according to our map — virtually no contacts with any of the epics or purāṇas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sp>
      <p:sp>
        <p:nvSpPr>
          <p:cNvPr id="5" name="Text 3"/>
          <p:cNvSpPr/>
          <p:nvPr/>
        </p:nvSpPr>
        <p:spPr>
          <a:xfrm>
            <a:off x="1143000" y="19659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sp>
      <p:sp>
        <p:nvSpPr>
          <p:cNvPr id="12" name="Text 10"/>
          <p:cNvSpPr/>
          <p:nvPr/>
        </p:nvSpPr>
        <p:spPr>
          <a:xfrm>
            <a:off x="1143000" y="37947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algn="ctr" indent="0" marL="0">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sp>
      <p:sp>
        <p:nvSpPr>
          <p:cNvPr id="6" name="Text 4"/>
          <p:cNvSpPr/>
          <p:nvPr/>
        </p:nvSpPr>
        <p:spPr>
          <a:xfrm>
            <a:off x="2011680" y="4572000"/>
            <a:ext cx="8138160" cy="150876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sp>
      <p:sp>
        <p:nvSpPr>
          <p:cNvPr id="12" name="Text 10"/>
          <p:cNvSpPr/>
          <p:nvPr/>
        </p:nvSpPr>
        <p:spPr>
          <a:xfrm>
            <a:off x="1097280" y="5349240"/>
            <a:ext cx="9966960" cy="109728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Those are exactly the parvans whose relative dates are contested; also, look at where the Śivadharmaśāstra and the Śivadharmottara are positioned in the map. The purāṇas that are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2103120"/>
            <a:ext cx="10332720" cy="4389120"/>
          </a:xfrm>
          <a:prstGeom prst="rect">
            <a:avLst/>
          </a:prstGeom>
          <a:noFill/>
          <a:ln/>
        </p:spPr>
        <p:txBody>
          <a:bodyPr wrap="square" rtlCol="0" anchor="t"/>
          <a:lstStyle/>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600" dirty="0"/>
          </a:p>
          <a:p>
            <a:pPr algn="ctr" indent="0" marL="0">
              <a:spcAft>
                <a:spcPts val="1600"/>
              </a:spcAft>
              <a:buNone/>
            </a:pPr>
            <a:r>
              <a:rPr lang="en-US" sz="1900" dirty="0">
                <a:solidFill>
                  <a:srgbClr val="1F5FA8"/>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900" b="1" dirty="0">
                <a:solidFill>
                  <a:srgbClr val="1F5FA8"/>
                </a:solidFill>
                <a:latin typeface="SF Pro Text" pitchFamily="34" charset="0"/>
                <a:ea typeface="SF Pro Text" pitchFamily="34" charset="-122"/>
                <a:cs typeface="SF Pro Text" pitchFamily="34" charset="-120"/>
              </a:rPr>
              <a:t>whose company it keeps</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2026-07-26T08:05:17Z</dcterms:created>
  <dcterms:modified xsi:type="dcterms:W3CDTF">2026-07-26T08:05:17Z</dcterms:modified>
</cp:coreProperties>
</file>