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914400" y="2121408"/>
            <a:ext cx="256032" cy="256032"/>
          </a:xfrm>
          <a:prstGeom prst="rect">
            <a:avLst/>
          </a:prstGeom>
          <a:solidFill>
            <a:srgbClr val="1F5FA8"/>
          </a:solidFill>
          <a:ln/>
        </p:spPr>
      </p:sp>
      <p:sp>
        <p:nvSpPr>
          <p:cNvPr id="5" name="Text 3"/>
          <p:cNvSpPr/>
          <p:nvPr/>
        </p:nvSpPr>
        <p:spPr>
          <a:xfrm>
            <a:off x="1417320" y="201168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dates</a:t>
            </a:r>
            <a:endParaRPr lang="en-US" sz="2400" dirty="0"/>
          </a:p>
        </p:txBody>
      </p:sp>
      <p:sp>
        <p:nvSpPr>
          <p:cNvPr id="6" name="Text 4"/>
          <p:cNvSpPr/>
          <p:nvPr/>
        </p:nvSpPr>
        <p:spPr>
          <a:xfrm>
            <a:off x="1417320" y="239572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7" name="Shape 5"/>
          <p:cNvSpPr/>
          <p:nvPr/>
        </p:nvSpPr>
        <p:spPr>
          <a:xfrm>
            <a:off x="914400" y="2990088"/>
            <a:ext cx="256032" cy="256032"/>
          </a:xfrm>
          <a:prstGeom prst="rect">
            <a:avLst/>
          </a:prstGeom>
          <a:solidFill>
            <a:srgbClr val="1F5FA8"/>
          </a:solidFill>
          <a:ln/>
        </p:spPr>
      </p:sp>
      <p:sp>
        <p:nvSpPr>
          <p:cNvPr id="8" name="Text 6"/>
          <p:cNvSpPr/>
          <p:nvPr/>
        </p:nvSpPr>
        <p:spPr>
          <a:xfrm>
            <a:off x="1417320" y="288036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chronology</a:t>
            </a:r>
            <a:endParaRPr lang="en-US" sz="2400" dirty="0"/>
          </a:p>
        </p:txBody>
      </p:sp>
      <p:sp>
        <p:nvSpPr>
          <p:cNvPr id="9" name="Text 7"/>
          <p:cNvSpPr/>
          <p:nvPr/>
        </p:nvSpPr>
        <p:spPr>
          <a:xfrm>
            <a:off x="1417320" y="326440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0" name="Shape 8"/>
          <p:cNvSpPr/>
          <p:nvPr/>
        </p:nvSpPr>
        <p:spPr>
          <a:xfrm>
            <a:off x="914400" y="3858768"/>
            <a:ext cx="256032" cy="256032"/>
          </a:xfrm>
          <a:prstGeom prst="rect">
            <a:avLst/>
          </a:prstGeom>
          <a:solidFill>
            <a:srgbClr val="1F5FA8"/>
          </a:solidFill>
          <a:ln/>
        </p:spPr>
      </p:sp>
      <p:sp>
        <p:nvSpPr>
          <p:cNvPr id="11" name="Text 9"/>
          <p:cNvSpPr/>
          <p:nvPr/>
        </p:nvSpPr>
        <p:spPr>
          <a:xfrm>
            <a:off x="1417320" y="374904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philological judgment</a:t>
            </a:r>
            <a:endParaRPr lang="en-US" sz="2400" dirty="0"/>
          </a:p>
        </p:txBody>
      </p:sp>
      <p:sp>
        <p:nvSpPr>
          <p:cNvPr id="12" name="Text 10"/>
          <p:cNvSpPr/>
          <p:nvPr/>
        </p:nvSpPr>
        <p:spPr>
          <a:xfrm>
            <a:off x="1417320" y="413308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3" name="Shape 11"/>
          <p:cNvSpPr/>
          <p:nvPr/>
        </p:nvSpPr>
        <p:spPr>
          <a:xfrm>
            <a:off x="7452360" y="2148840"/>
            <a:ext cx="0" cy="2240280"/>
          </a:xfrm>
          <a:prstGeom prst="line">
            <a:avLst/>
          </a:prstGeom>
          <a:noFill/>
          <a:ln w="12700">
            <a:solidFill>
              <a:srgbClr val="C8C8C8"/>
            </a:solidFill>
            <a:prstDash val="solid"/>
          </a:ln>
        </p:spPr>
      </p:sp>
      <p:sp>
        <p:nvSpPr>
          <p:cNvPr id="14" name="Text 12"/>
          <p:cNvSpPr/>
          <p:nvPr/>
        </p:nvSpPr>
        <p:spPr>
          <a:xfrm>
            <a:off x="7818120" y="2148840"/>
            <a:ext cx="3749040" cy="224028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5" name="Text 13"/>
          <p:cNvSpPr/>
          <p:nvPr/>
        </p:nvSpPr>
        <p:spPr>
          <a:xfrm>
            <a:off x="822960" y="5212080"/>
            <a:ext cx="10515600" cy="731520"/>
          </a:xfrm>
          <a:prstGeom prst="rect">
            <a:avLst/>
          </a:prstGeom>
          <a:noFill/>
          <a:ln/>
        </p:spPr>
        <p:txBody>
          <a:bodyPr wrap="square"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1097280" y="2194560"/>
            <a:ext cx="777240" cy="777240"/>
          </a:xfrm>
          <a:prstGeom prst="ellipse">
            <a:avLst/>
          </a:prstGeom>
          <a:solidFill>
            <a:srgbClr val="1F5FA8"/>
          </a:solidFill>
          <a:ln/>
        </p:spPr>
      </p:sp>
      <p:sp>
        <p:nvSpPr>
          <p:cNvPr id="5" name="Text 3"/>
          <p:cNvSpPr/>
          <p:nvPr/>
        </p:nvSpPr>
        <p:spPr>
          <a:xfrm>
            <a:off x="1097280" y="21945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1</a:t>
            </a:r>
            <a:endParaRPr lang="en-US" sz="2800" dirty="0"/>
          </a:p>
        </p:txBody>
      </p:sp>
      <p:sp>
        <p:nvSpPr>
          <p:cNvPr id="6" name="Text 4"/>
          <p:cNvSpPr/>
          <p:nvPr/>
        </p:nvSpPr>
        <p:spPr>
          <a:xfrm>
            <a:off x="2240280" y="208483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What exactly was counted?</a:t>
            </a:r>
            <a:endParaRPr lang="en-US" sz="2400" dirty="0"/>
          </a:p>
        </p:txBody>
      </p:sp>
      <p:sp>
        <p:nvSpPr>
          <p:cNvPr id="7" name="Shape 5"/>
          <p:cNvSpPr/>
          <p:nvPr/>
        </p:nvSpPr>
        <p:spPr>
          <a:xfrm>
            <a:off x="1097280" y="3931920"/>
            <a:ext cx="777240" cy="777240"/>
          </a:xfrm>
          <a:prstGeom prst="ellipse">
            <a:avLst/>
          </a:prstGeom>
          <a:solidFill>
            <a:srgbClr val="1F5FA8"/>
          </a:solidFill>
          <a:ln/>
        </p:spPr>
      </p:sp>
      <p:sp>
        <p:nvSpPr>
          <p:cNvPr id="8" name="Text 6"/>
          <p:cNvSpPr/>
          <p:nvPr/>
        </p:nvSpPr>
        <p:spPr>
          <a:xfrm>
            <a:off x="1097280" y="39319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2</a:t>
            </a:r>
            <a:endParaRPr lang="en-US" sz="2800" dirty="0"/>
          </a:p>
        </p:txBody>
      </p:sp>
      <p:sp>
        <p:nvSpPr>
          <p:cNvPr id="9" name="Text 7"/>
          <p:cNvSpPr/>
          <p:nvPr/>
        </p:nvSpPr>
        <p:spPr>
          <a:xfrm>
            <a:off x="2240280" y="382219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Can the left–right axis be trusted —</a:t>
            </a:r>
            <a:endParaRPr lang="en-US" sz="2400" dirty="0"/>
          </a:p>
          <a:p>
            <a:pPr indent="0" marL="0">
              <a:buNone/>
            </a:pPr>
            <a:r>
              <a:rPr lang="en-US" sz="2400" dirty="0">
                <a:solidFill>
                  <a:srgbClr val="222222"/>
                </a:solidFill>
                <a:latin typeface="SF Pro Text" pitchFamily="34" charset="0"/>
                <a:ea typeface="SF Pro Text" pitchFamily="34" charset="-122"/>
                <a:cs typeface="SF Pro Text" pitchFamily="34" charset="-120"/>
              </a:rPr>
              <a:t>or is it an artifact of one method?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Text 2"/>
          <p:cNvSpPr/>
          <p:nvPr/>
        </p:nvSpPr>
        <p:spPr>
          <a:xfrm>
            <a:off x="82296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111</a:t>
            </a:r>
            <a:endParaRPr lang="en-US" sz="5400" dirty="0"/>
          </a:p>
        </p:txBody>
      </p:sp>
      <p:sp>
        <p:nvSpPr>
          <p:cNvPr id="5" name="Text 3"/>
          <p:cNvSpPr/>
          <p:nvPr/>
        </p:nvSpPr>
        <p:spPr>
          <a:xfrm>
            <a:off x="82296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texts and sections</a:t>
            </a:r>
            <a:endParaRPr lang="en-US" sz="1500" dirty="0"/>
          </a:p>
        </p:txBody>
      </p:sp>
      <p:sp>
        <p:nvSpPr>
          <p:cNvPr id="6" name="Text 4"/>
          <p:cNvSpPr/>
          <p:nvPr/>
        </p:nvSpPr>
        <p:spPr>
          <a:xfrm>
            <a:off x="452628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4.8 M</a:t>
            </a:r>
            <a:endParaRPr lang="en-US" sz="5400" dirty="0"/>
          </a:p>
        </p:txBody>
      </p:sp>
      <p:sp>
        <p:nvSpPr>
          <p:cNvPr id="7" name="Text 5"/>
          <p:cNvSpPr/>
          <p:nvPr/>
        </p:nvSpPr>
        <p:spPr>
          <a:xfrm>
            <a:off x="452628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running words</a:t>
            </a:r>
            <a:endParaRPr lang="en-US" sz="1500" dirty="0"/>
          </a:p>
        </p:txBody>
      </p:sp>
      <p:sp>
        <p:nvSpPr>
          <p:cNvPr id="8" name="Text 6"/>
          <p:cNvSpPr/>
          <p:nvPr/>
        </p:nvSpPr>
        <p:spPr>
          <a:xfrm>
            <a:off x="822960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2</a:t>
            </a:r>
            <a:endParaRPr lang="en-US" sz="5400" dirty="0"/>
          </a:p>
        </p:txBody>
      </p:sp>
      <p:sp>
        <p:nvSpPr>
          <p:cNvPr id="9" name="Text 7"/>
          <p:cNvSpPr/>
          <p:nvPr/>
        </p:nvSpPr>
        <p:spPr>
          <a:xfrm>
            <a:off x="822960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parallel versions:</a:t>
            </a:r>
            <a:endParaRPr lang="en-US" sz="1500" dirty="0"/>
          </a:p>
          <a:p>
            <a:pPr algn="ctr" indent="0" marL="0">
              <a:buNone/>
            </a:pPr>
            <a:r>
              <a:rPr lang="en-US" sz="1500" dirty="0">
                <a:solidFill>
                  <a:srgbClr val="555555"/>
                </a:solidFill>
                <a:latin typeface="SF Pro Text" pitchFamily="34" charset="0"/>
                <a:ea typeface="SF Pro Text" pitchFamily="34" charset="-122"/>
                <a:cs typeface="SF Pro Text" pitchFamily="34" charset="-120"/>
              </a:rPr>
              <a:t>sandhied · unsandhied</a:t>
            </a:r>
            <a:endParaRPr lang="en-US" sz="1500" dirty="0"/>
          </a:p>
        </p:txBody>
      </p:sp>
      <p:sp>
        <p:nvSpPr>
          <p:cNvPr id="10" name="Text 8"/>
          <p:cNvSpPr/>
          <p:nvPr/>
        </p:nvSpPr>
        <p:spPr>
          <a:xfrm>
            <a:off x="1463040" y="3794760"/>
            <a:ext cx="9601200" cy="1371600"/>
          </a:xfrm>
          <a:prstGeom prst="rect">
            <a:avLst/>
          </a:prstGeom>
          <a:noFill/>
          <a:ln/>
        </p:spPr>
        <p:txBody>
          <a:bodyPr wrap="square" rtlCol="0" anchor="ctr"/>
          <a:lstStyle/>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machine-readable editions, cleaned</a:t>
            </a:r>
            <a:endParaRPr lang="en-US" sz="1700" dirty="0"/>
          </a:p>
        </p:txBody>
      </p:sp>
      <p:sp>
        <p:nvSpPr>
          <p:cNvPr id="11" name="Text 9"/>
          <p:cNvSpPr/>
          <p:nvPr/>
        </p:nvSpPr>
        <p:spPr>
          <a:xfrm>
            <a:off x="1463040" y="5394960"/>
            <a:ext cx="9601200" cy="731520"/>
          </a:xfrm>
          <a:prstGeom prst="rect">
            <a:avLst/>
          </a:prstGeom>
          <a:noFill/>
          <a:ln/>
        </p:spPr>
        <p:txBody>
          <a:bodyPr wrap="square"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554480"/>
            <a:ext cx="5669280" cy="5120640"/>
          </a:xfrm>
          <a:prstGeom prst="rect">
            <a:avLst/>
          </a:prstGeom>
          <a:noFill/>
          <a:ln/>
        </p:spPr>
        <p:txBody>
          <a:bodyPr wrap="square" rtlCol="0" anchor="ctr"/>
          <a:lstStyle/>
          <a:p>
            <a:pPr indent="0" marL="0">
              <a:spcAft>
                <a:spcPts val="8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700" dirty="0"/>
          </a:p>
          <a:p>
            <a:pPr indent="0" marL="0">
              <a:spcAft>
                <a:spcPts val="8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700" dirty="0"/>
          </a:p>
          <a:p>
            <a:pPr indent="0" marL="0">
              <a:spcAft>
                <a:spcPts val="800"/>
              </a:spcAft>
              <a:buNone/>
            </a:pP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similar habits  →  small number</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different habits  →  large number</a:t>
            </a:r>
            <a:endParaRPr lang="en-US" sz="1700" dirty="0"/>
          </a:p>
          <a:p>
            <a:pPr indent="0" marL="0">
              <a:spcAft>
                <a:spcPts val="800"/>
              </a:spcAft>
              <a:buNone/>
            </a:pPr>
            <a:endParaRPr lang="en-US" sz="1700" dirty="0"/>
          </a:p>
          <a:p>
            <a:pPr indent="0" marL="0">
              <a:spcAft>
                <a:spcPts val="8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700" dirty="0"/>
          </a:p>
          <a:p>
            <a:pPr indent="0" marL="0">
              <a:spcAft>
                <a:spcPts val="800"/>
              </a:spcAft>
              <a:buNone/>
            </a:pPr>
            <a:r>
              <a:rPr lang="en-US" sz="130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0" y="2852928"/>
          <a:ext cx="4663440" cy="914400"/>
        </p:xfrm>
        <a:graphic>
          <a:graphicData uri="http://schemas.openxmlformats.org/drawingml/2006/table">
            <a:tbl>
              <a:tblPr/>
              <a:tblGrid>
                <a:gridCol w="3383280"/>
                <a:gridCol w="1280160"/>
              </a:tblGrid>
              <a:tr h="502920">
                <a:tc>
                  <a:txBody>
                    <a:bodyPr/>
                    <a:lstStyle/>
                    <a:p>
                      <a:pPr indent="0" marL="0">
                        <a:buNone/>
                      </a:pPr>
                      <a:r>
                        <a:rPr lang="en-US" sz="1500" b="1" dirty="0">
                          <a:solidFill>
                            <a:srgbClr val="FFFFF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500" b="1" dirty="0">
                          <a:solidFill>
                            <a:srgbClr val="FFFFF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94560"/>
          <a:ext cx="9784080" cy="914400"/>
        </p:xfrm>
        <a:graphic>
          <a:graphicData uri="http://schemas.openxmlformats.org/drawingml/2006/table">
            <a:tbl>
              <a:tblPr/>
              <a:tblGrid>
                <a:gridCol w="1371600"/>
                <a:gridCol w="4206240"/>
                <a:gridCol w="4206240"/>
              </a:tblGrid>
              <a:tr h="685800">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 sandhi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Text 2"/>
          <p:cNvSpPr/>
          <p:nvPr/>
        </p:nvSpPr>
        <p:spPr>
          <a:xfrm>
            <a:off x="822960" y="5394960"/>
            <a:ext cx="10515600" cy="640080"/>
          </a:xfrm>
          <a:prstGeom prst="rect">
            <a:avLst/>
          </a:prstGeom>
          <a:noFill/>
          <a:ln/>
        </p:spPr>
        <p:txBody>
          <a:bodyPr wrap="square" rtlCol="0" anchor="ctr"/>
          <a:lstStyle/>
          <a:p>
            <a:pPr algn="ctr" indent="0" marL="0">
              <a:buNone/>
            </a:pPr>
            <a:r>
              <a:rPr lang="en-US" sz="2000" b="1" dirty="0">
                <a:solidFill>
                  <a:srgbClr val="1F5FA8"/>
                </a:solidFill>
                <a:latin typeface="SF Pro Display" pitchFamily="34" charset="0"/>
                <a:ea typeface="SF Pro Display" pitchFamily="34" charset="-122"/>
                <a:cs typeface="SF Pro Display" pitchFamily="34" charset="-120"/>
              </a:rPr>
              <a:t>Nearly orthogonal measurements — almost no shared failure modes.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Matsya’s cosmogonic chapters sit with them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Text 2"/>
          <p:cNvSpPr/>
          <p:nvPr/>
        </p:nvSpPr>
        <p:spPr>
          <a:xfrm>
            <a:off x="822960" y="182880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5" name="Text 3"/>
          <p:cNvSpPr/>
          <p:nvPr/>
        </p:nvSpPr>
        <p:spPr>
          <a:xfrm>
            <a:off x="5577840" y="182880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6" name="Text 4"/>
          <p:cNvSpPr/>
          <p:nvPr/>
        </p:nvSpPr>
        <p:spPr>
          <a:xfrm>
            <a:off x="6309360" y="182880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7" name="Text 5"/>
          <p:cNvSpPr/>
          <p:nvPr/>
        </p:nvSpPr>
        <p:spPr>
          <a:xfrm>
            <a:off x="822960" y="269748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8" name="Text 6"/>
          <p:cNvSpPr/>
          <p:nvPr/>
        </p:nvSpPr>
        <p:spPr>
          <a:xfrm>
            <a:off x="5577840" y="269748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9" name="Text 7"/>
          <p:cNvSpPr/>
          <p:nvPr/>
        </p:nvSpPr>
        <p:spPr>
          <a:xfrm>
            <a:off x="6309360" y="269748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0" name="Text 8"/>
          <p:cNvSpPr/>
          <p:nvPr/>
        </p:nvSpPr>
        <p:spPr>
          <a:xfrm>
            <a:off x="822960" y="356616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1" name="Text 9"/>
          <p:cNvSpPr/>
          <p:nvPr/>
        </p:nvSpPr>
        <p:spPr>
          <a:xfrm>
            <a:off x="5577840" y="35661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2" name="Text 10"/>
          <p:cNvSpPr/>
          <p:nvPr/>
        </p:nvSpPr>
        <p:spPr>
          <a:xfrm>
            <a:off x="6309360" y="356616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3" name="Text 11"/>
          <p:cNvSpPr/>
          <p:nvPr/>
        </p:nvSpPr>
        <p:spPr>
          <a:xfrm>
            <a:off x="822960" y="4663440"/>
            <a:ext cx="10515600" cy="548640"/>
          </a:xfrm>
          <a:prstGeom prst="rect">
            <a:avLst/>
          </a:prstGeom>
          <a:noFill/>
          <a:ln/>
        </p:spPr>
        <p:txBody>
          <a:bodyPr wrap="square" rtlCol="0" anchor="ctr"/>
          <a:lstStyle/>
          <a:p>
            <a:pPr algn="ctr" indent="0" marL="0">
              <a:buNone/>
            </a:pPr>
            <a:r>
              <a:rPr lang="en-US" sz="1800" dirty="0">
                <a:solidFill>
                  <a:srgbClr val="222222"/>
                </a:solidFill>
                <a:latin typeface="SF Pro Text" pitchFamily="34" charset="0"/>
                <a:ea typeface="SF Pro Text" pitchFamily="34" charset="-122"/>
                <a:cs typeface="SF Pro Text" pitchFamily="34" charset="-120"/>
              </a:rPr>
              <a:t>The lenses share almost no assumptions — yet draw the same axis.</a:t>
            </a:r>
            <a:endParaRPr lang="en-US" sz="1800" dirty="0"/>
          </a:p>
        </p:txBody>
      </p:sp>
      <p:sp>
        <p:nvSpPr>
          <p:cNvPr id="14" name="Text 12"/>
          <p:cNvSpPr/>
          <p:nvPr/>
        </p:nvSpPr>
        <p:spPr>
          <a:xfrm>
            <a:off x="822960" y="5303520"/>
            <a:ext cx="10515600" cy="822960"/>
          </a:xfrm>
          <a:prstGeom prst="rect">
            <a:avLst/>
          </a:prstGeom>
          <a:noFill/>
          <a:ln/>
        </p:spPr>
        <p:txBody>
          <a:bodyPr wrap="square" rtlCol="0" anchor="ctr"/>
          <a:lstStyle/>
          <a:p>
            <a:pPr algn="ctr" indent="0" marL="0">
              <a:buNone/>
            </a:pPr>
            <a:r>
              <a:rPr lang="en-US" sz="3000" b="1" dirty="0">
                <a:solidFill>
                  <a:srgbClr val="1F5FA8"/>
                </a:solidFill>
                <a:latin typeface="SF Pro Display" pitchFamily="34" charset="0"/>
                <a:ea typeface="SF Pro Display" pitchFamily="34" charset="-122"/>
                <a:cs typeface="SF Pro Display" pitchFamily="34" charset="-120"/>
              </a:rPr>
              <a:t>The signal is in the texts.</a:t>
            </a:r>
            <a:endParaRPr lang="en-US" sz="3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011680"/>
            <a:ext cx="10332720" cy="201168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Text 3"/>
          <p:cNvSpPr/>
          <p:nvPr/>
        </p:nvSpPr>
        <p:spPr>
          <a:xfrm>
            <a:off x="640080" y="4480560"/>
            <a:ext cx="10881360" cy="137160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4028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114800" y="224028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4612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114800" y="324612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25196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114800" y="425196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914400" y="5349240"/>
            <a:ext cx="10332720" cy="0"/>
          </a:xfrm>
          <a:prstGeom prst="line">
            <a:avLst/>
          </a:prstGeom>
          <a:noFill/>
          <a:ln w="12700">
            <a:solidFill>
              <a:srgbClr val="C8C8C8"/>
            </a:solidFill>
            <a:prstDash val="solid"/>
          </a:ln>
        </p:spPr>
      </p:sp>
      <p:sp>
        <p:nvSpPr>
          <p:cNvPr id="12" name="Text 10"/>
          <p:cNvSpPr/>
          <p:nvPr/>
        </p:nvSpPr>
        <p:spPr>
          <a:xfrm>
            <a:off x="914400" y="5532120"/>
            <a:ext cx="10332720" cy="1005840"/>
          </a:xfrm>
          <a:prstGeom prst="rect">
            <a:avLst/>
          </a:prstGeom>
          <a:noFill/>
          <a:ln/>
        </p:spPr>
        <p:txBody>
          <a:bodyPr wrap="square" lIns="0" tIns="0" rIns="0" bIns="0" rtlCol="0" anchor="t"/>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1645920"/>
            <a:ext cx="10332720" cy="4572000"/>
          </a:xfrm>
          <a:prstGeom prst="rect">
            <a:avLst/>
          </a:prstGeom>
          <a:noFill/>
          <a:ln/>
        </p:spPr>
        <p:txBody>
          <a:bodyPr wrap="square" rtlCol="0" anchor="ctr"/>
          <a:lstStyle/>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700" dirty="0"/>
          </a:p>
          <a:p>
            <a:pPr marL="152400" indent="-152400">
              <a:spcAft>
                <a:spcPts val="1600"/>
              </a:spcAft>
              <a:buSzPct val="100000"/>
              <a:buChar char="•"/>
            </a:pPr>
            <a:r>
              <a:rPr lang="en-US" sz="1700" dirty="0">
                <a:solidFill>
                  <a:srgbClr val="222222"/>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700" b="1" dirty="0">
                <a:solidFill>
                  <a:srgbClr val="222222"/>
                </a:solidFill>
                <a:latin typeface="SF Pro Text" pitchFamily="34" charset="0"/>
                <a:ea typeface="SF Pro Text" pitchFamily="34" charset="-122"/>
                <a:cs typeface="SF Pro Text" pitchFamily="34" charset="-120"/>
              </a:rPr>
              <a:t>whose company it keeps</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 1–176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2026-07-25T04:33:23Z</dcterms:created>
  <dcterms:modified xsi:type="dcterms:W3CDTF">2026-07-25T04:33:23Z</dcterms:modified>
</cp:coreProperties>
</file>