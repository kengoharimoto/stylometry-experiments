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straight into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audience find their texts. Epics left, old purāṇic core upper middle, sectarian digests right, Bhāgavata below. One color = one stratum of the RECEIVED chronology, not of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coloring is the only place received scholarship touches the plot; the geometry is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first how the map is made, then a guided tour, then the robustness case, then honest caveats.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on e-text provenance; don't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features are ca, tu, eva, na, sa, tathā — grammatical glue, not content. Nobody composes with their rate of 'tu' in mind. Right: the old purāṇic core uses tu/eva/tathā/vai about 1.5–3× as often as the Mahābhārata; the Bhāgavata suppresses all four. These boring words carry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formulas: 'an average of disagreements in word habits, in units of what is normal for this corpus.' Table rows preview later tour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now, cash in at Act 4: any segmentation-pipeline artifact could only touch Lens 1; any orthographic/sandhi artifact only Lens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Mileage-chart analogy: given only road distances between cities you can redraw the map of India. MDS does exactly that with stylistic distances. The opening map is this with the full 111×111 table. Axes mean nothing by themselves; only nearness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machine has read no Hopkins and no Brockington, yet the battle books cluster, the didactic parvans MBh 12–13 drift toward purāṇa-space, and the two framing khaṇḍas resemble each other. Note (no chronology assumed): coloring is by text — Mahābhārata vs Rāmāyaṇa — not by supposed date; the closing parvans’ extreme position is a finding, not an input. Precision for Q&amp;A: Bāla↔Uttara mutual in the word lens; in the 3-gram lens both are nearest to MBh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Kirfel (1927) predicted this cluster a century ago; the counting confirms it without being told. The Vāyu∩Brahmāṇḍa common-material extract (V×B) sits closest of all to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work, stratified in front of you: the narrative body reads as a bridge between epic and purāṇa (in the 3-gram lens it shifts toward Matsya/Brahma, the old core), while the Pāśupata doctrinal chapters (SP2) land at the far right with the Śivapurāṇa (Umā, Sanatkumāra) as their word-lens neighbours. The Vāyupurāṇa has its own Pāśupata-yoga section (V2 on the map) that makes the very same jump to the far right — and the two Pāśupata sections share virtually no text (word-trigram overlap ≈ 0.002, no higher than with an unrelated control; longest shared run four words), so their convergence is doctrinal register, not borrowing. Caveat for Q&amp;A: SP2 is a short excerpt, so its exact spot is soft — but the direction of the jump is unmistakable. LIVE: mention the forthcoming edition of the Pāśupata-yoga chapters — the lenses flag exactly what its editors suspected.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Folded into one group on purpose: on the map the old boundary between ‘middle purāṇic’ and ‘late sectarian/encyclopedic’ does not survive — the two overlap heavily on axis 1 (medians +0.05 vs +0.21, ranges swamping the gap) and the split rested on external dating and genre, not on the counts. The stratum shades from texts still close to the old core (Kūrma, Liṅga, Viṣṇudharmottara) out to the self-quoting digests at the right, where its style is simply the style of the digest.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compilation model, confirmed from word counts alone; contrast with the Bhāgavata set up deliberately. Nothing connects the khaṇḍas but the colophon phrase: Kāśīkhaṇḍa’s word-lens NN is Bhaviṣya, Himavat’s is ŚiP Dharma, Sūtasaṃhitā’s is Garuḍa 1. Best detail if time allows: the Revākhaṇḍa’s NN (both lenses) is the OTHER Revākhaṇḍa, the distinct one transmitted with the Vāyu — the two share ~5% of their lines verbatim while each shares only stock formulae with its own host. A khaṇḍa can be closer to its namesake in another purāṇa than to its own compilation.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 of the purāṇa has always been in dispute. What we have here adds more data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grid: top row words/unsandhied, bottom row 3-grams/sandhied, three distance metrics each — six independent pipelines, one geometry. Layout agreement with the opening map: 0.95–0.96 (words), 0.82–0.89 (3-grams). The epic→purāṇic axis survives every change of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abstract's core argument; deliver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Promised in the abstract; agnosticism as a feature, not a weakness. The Bhāgavata's vertical displacement is the clearest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MFWs tend to be fillers; inapt authors tend to rely on metre fillers. The Bhāgavata: when was it composed? An old problem — it shows in our map (B7). The mode or the motivation of composition/compilation: e.g. the Bhaviṣya (B8 and B9).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point of the whole talk: the counts make us look at old problems from a new angle, and the charts hand scholars hints about where to dig. The Bhaviṣya being the fountain of many interesting things — wish there were time to show slide B9.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where we began — now everyone can read the map. Thanks; over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pipeline trust: same story with the Nīlamata, where a raw-cosine outlier exposed an editorially dissolved source (2026-07-09).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for a tree: here it is. Cosine Delta on the same 80 words, 500 bootstrap replicates (the words are resampled with replacement), neighbour-joining per replicate, majority-rule consensus — so every branch on the slide is one that survived in more than half of the replicates. Rooted arbitrarily on MBh 6. It finds the same groups the map does: the epics, Vāyu–Brahmāṇḍa and the old purāṇic core, the Bhāgavata, the Śivapurāṇa. But a tree asserts descent and nesting, and our texts drift into one another instead of branching cleanly — which is why the talk is built on the map, not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sharp question a specialist will ask: the closing parvans MBh 16–18 sit at the extreme epic pole, ‘earlier’ than the battle books — surely that is just their tiny length? Answer in two moves. (1) It is partly a length effect: drawing random contiguous windows of securely-placed texts (MBh 3/7/12, Vāyu, Agni) and running them through the identical pipeline, at 1–2k words — the size of MBh 16–18 — the 3-gram lens drifts leftward and the word lens scatters so wide that single short windows reach the pole. So the individual positions of MBh 16/17/18 are unreliable; do not build anything on them alone (they carry the small-dot / length flag). (2) But it is not only length: concatenate 15+16+17+18 into one ~17k-word unit and it stays at the pole, not out by MBh 11/14. The group position is real. What it measures is register — narrative-pure text with little of the expository-particle overlay (tu/eva/tathā/vai) that swelled MBh 12–14. Keep two dates apart: when the material was composed, and when it was integrated into the Mahābhārata. The ‘late epilogue’ verdict (e.g. Brockington 1998) — cited here as a position in the literature, not one we endorse — is at most a claim about integration into the corpus; the counts cannot arbitrate the age of the material itself — old material integrated late, and young material left redactionally thin, look the same here. And if the material IS young, move (1) already supplies the explanation for the extreme individual positions: at these sizes, length alone reaches the pole. Full diagnostics: notes/2026-07-15_closing_parvans_length_diagnostics.md.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question ‘is the particle avoidance the work of one book, or of an editor of one layer?’ No: all 48 cells (12 books × 4 particles) sit below the old purāṇic core’s median rates (tu 17.8, eva 13.3, tathā 9.1, vai 7.2 per 1,000). Phrase it group-relative: against the corpus at large, vai is NOT suppressed (BhP ≈ MBh ≈ corpus median; only the old core is vai-heavy), and eva rises to low-normal in books 5 and 12 (8.3/7.3 — even #3 in their own top tens, visible as the red bars). What the BhP runs on instead: ca, na, uvāca, śrī, bhagavān, api — and, at rates unique to it in this corpus, the Vedic particles aṅga, bata, vāva of the Bhāgavata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 answer to the borrowing confound (caveats slide): we MEASURED the copying, independently of style — every pair sharing ≥5% of the smaller text’s half-śloka lines (akṣara-stream matching, stock formulae excluded), drawn on the same map. The two structures do not coincide. Liṅga 1 ↔ Vāyu §2 share 46% of the smaller text’s lines yet stand at Delta 1.02 — essentially the corpus median — and neither is the other’s nearest neighbour; Matsya↔Padma (37%) sit at 0.63, ŚiP Dharma↔Umā (44%) at 0.55 — unremarkable closeness, no mutual NNs among the heavy borrowers. Conversely the tightest clusters — the Bhāgavata (12/12 internal NN), the epics — have almost no edges at all. The one place both webs agree is exactly where philology expects it: Vāyu–Brahmāṇḍa, heavy sharing AND Delta 0.28 — the common-ancestor signature. Delta is not riding on shared ślokas: the map measures habit, the edges measure copying, and they are different facts about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B9 — three beats. (1) THE SCALE: 47% of the entire Bhaviṣya (40k pāda-units; Brāhmaparvan 38%, Uttaraparvan 59%) matches another text at ≥0.7 — the extreme case of compilation literature. Nibandhas (Kṛtyakalpataru, Hemādri) quote FROM it, so they date its terminus, not its sources; the big donors are Padma, Matsya, the Sāmbapurāṇa, and the Śivadharma corpus — the last now on our map as units, donor and mosaic on one plot. (2) BLOCK-WISE AND DATABLE: 1.2–1.7 is Manusmṛti 1–3 nearly contiguously; the saura bands (1.52–1.80, 1.121–1.145) are the Sāmba–Brahmapurāṇa corpus with Vāyu/Brahmāṇḍa astronomy upstream; 1.25–26 Bṛhatsaṃhitā; Uttara 4.4–6 is the Śivadharmottara wholesale; the vrata chapters run at 60–96% reuse. Each ingredient carries its own date — the mosaic is bracketed between its sources and its citers. (3) THE CROSS-CONFESSIONAL ONE: the physiognomy block shares verse text with the Śārdūlakarṇāvadāna (Divyāvadāna 33) — say 'shared divination tradition', not 'borrowed from the Buddhists'. PUNCHLINE: not an author's stratum — a compilation event with datable ingredients. NEVER give the Bhaviṣya a single date (the Pratisargaparvan prophesies Queen Victoria): per-block bracketing is the only dating it admits, and that is precisely what the scan delivers and one dot on the map cannot. If shown after slide 14: the Bhaviṣya is the mosaic that stayed together; the Skāndamahāpurāṇa a 'purāṇa' whose parts never even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B10 — why do ŚDh and ŚDhU sit at the right edge (axis-1 ranks 109 and 106 of 111) while the purāṇas that absorbed them plot far to their left (ŚiP Dharmasaṃhitā rank 70, Bhaviṣya 76, Padma 48)? (1) Not the expository particles — their tu/eva/tathā/vai are LOW (ŚDhU's vai 0.2/1000, Bhāgavata territory). What pushes them right is the vocabulary of impersonal injunction (yaḥ 'whoever', optative bhavet, sarva, sadā, śiva itself at z +6.6) plus the near-total absence of narrative machinery (tam, tatas, dṛṣṭvā, aham, me, te — the strongest left-pole correlates). Pure frameless prescription: the right pole means discourse type, not date. (2) The hosts are measured mixtures: they absorbed only 15–26% of the pair into narrative-framed bulk 3–30× larger. (3) The dating twist: the pair carries ~6th–7th-c. external anchors with early Nepalese transmission — a text older than much of the sectarian mass plots to the right of it, the cleanest counterexample to reading axis 1 as a timeline; twin of the closing-parvans lesson at the opposite pole. THE POINT: especially when the nature of the texts varies, the same lenses lose their credibility as revealers of a text's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914400" y="1554480"/>
            <a:ext cx="10332720" cy="1737360"/>
          </a:xfrm>
          <a:prstGeom prst="rect">
            <a:avLst/>
          </a:prstGeom>
          <a:noFill/>
          <a:ln/>
        </p:spPr>
        <p:txBody>
          <a:bodyPr wrap="square" rtlCol="0" anchor="ctr"/>
          <a:lstStyle/>
          <a:p>
            <a:pPr algn="ctr" indent="0" marL="0">
              <a:buNone/>
            </a:pPr>
            <a:r>
              <a:rPr lang="en-US" sz="4000" b="1" dirty="0">
                <a:solidFill>
                  <a:srgbClr val="FFFFFF"/>
                </a:solidFill>
                <a:latin typeface="SF Pro Display" pitchFamily="34" charset="0"/>
                <a:ea typeface="SF Pro Display" pitchFamily="34" charset="-122"/>
                <a:cs typeface="SF Pro Display" pitchFamily="34" charset="-120"/>
              </a:rPr>
              <a:t>Chronological Stratification</a:t>
            </a:r>
            <a:endParaRPr lang="en-US" sz="4000" dirty="0"/>
          </a:p>
          <a:p>
            <a:pPr algn="ctr" indent="0" marL="0">
              <a:buNone/>
            </a:pPr>
            <a:r>
              <a:rPr lang="en-US" sz="4000" b="1" dirty="0">
                <a:solidFill>
                  <a:srgbClr val="FFFFFF"/>
                </a:solidFill>
                <a:latin typeface="SF Pro Display" pitchFamily="34" charset="0"/>
                <a:ea typeface="SF Pro Display" pitchFamily="34" charset="-122"/>
                <a:cs typeface="SF Pro Display" pitchFamily="34" charset="-120"/>
              </a:rPr>
              <a:t>in the Epics and Purāṇas</a:t>
            </a:r>
            <a:endParaRPr lang="en-US" sz="4000" dirty="0"/>
          </a:p>
        </p:txBody>
      </p:sp>
      <p:sp>
        <p:nvSpPr>
          <p:cNvPr id="3" name="Text 1"/>
          <p:cNvSpPr/>
          <p:nvPr/>
        </p:nvSpPr>
        <p:spPr>
          <a:xfrm>
            <a:off x="914400" y="3383280"/>
            <a:ext cx="10332720" cy="548640"/>
          </a:xfrm>
          <a:prstGeom prst="rect">
            <a:avLst/>
          </a:prstGeom>
          <a:noFill/>
          <a:ln/>
        </p:spPr>
        <p:txBody>
          <a:bodyPr wrap="square" rtlCol="0" anchor="ctr"/>
          <a:lstStyle/>
          <a:p>
            <a:pPr algn="ctr" indent="0" marL="0">
              <a:buNone/>
            </a:pPr>
            <a:r>
              <a:rPr lang="en-US" sz="2200" i="1" dirty="0">
                <a:solidFill>
                  <a:srgbClr val="CADCFC"/>
                </a:solidFill>
                <a:latin typeface="SF Pro Display" pitchFamily="34" charset="0"/>
                <a:ea typeface="SF Pro Display" pitchFamily="34" charset="-122"/>
                <a:cs typeface="SF Pro Display" pitchFamily="34" charset="-120"/>
              </a:rPr>
              <a:t>Evidence from Stylometric Seriation</a:t>
            </a:r>
            <a:endParaRPr lang="en-US" sz="2200" dirty="0"/>
          </a:p>
        </p:txBody>
      </p:sp>
      <p:sp>
        <p:nvSpPr>
          <p:cNvPr id="4" name="Shape 2"/>
          <p:cNvSpPr/>
          <p:nvPr/>
        </p:nvSpPr>
        <p:spPr>
          <a:xfrm>
            <a:off x="4622292" y="4343400"/>
            <a:ext cx="118872" cy="118872"/>
          </a:xfrm>
          <a:prstGeom prst="ellipse">
            <a:avLst/>
          </a:prstGeom>
          <a:solidFill>
            <a:srgbClr val="1F5FA8"/>
          </a:solidFill>
          <a:ln/>
        </p:spPr>
      </p:sp>
      <p:sp>
        <p:nvSpPr>
          <p:cNvPr id="5" name="Shape 3"/>
          <p:cNvSpPr/>
          <p:nvPr/>
        </p:nvSpPr>
        <p:spPr>
          <a:xfrm>
            <a:off x="4933188" y="4343400"/>
            <a:ext cx="118872" cy="118872"/>
          </a:xfrm>
          <a:prstGeom prst="ellipse">
            <a:avLst/>
          </a:prstGeom>
          <a:solidFill>
            <a:srgbClr val="7BA7D4"/>
          </a:solidFill>
          <a:ln/>
        </p:spPr>
      </p:sp>
      <p:sp>
        <p:nvSpPr>
          <p:cNvPr id="6" name="Shape 4"/>
          <p:cNvSpPr/>
          <p:nvPr/>
        </p:nvSpPr>
        <p:spPr>
          <a:xfrm>
            <a:off x="5244084" y="4343400"/>
            <a:ext cx="118872" cy="118872"/>
          </a:xfrm>
          <a:prstGeom prst="ellipse">
            <a:avLst/>
          </a:prstGeom>
          <a:solidFill>
            <a:srgbClr val="1A7A3A"/>
          </a:solidFill>
          <a:ln/>
        </p:spPr>
      </p:sp>
      <p:sp>
        <p:nvSpPr>
          <p:cNvPr id="7" name="Shape 5"/>
          <p:cNvSpPr/>
          <p:nvPr/>
        </p:nvSpPr>
        <p:spPr>
          <a:xfrm>
            <a:off x="5554980" y="4343400"/>
            <a:ext cx="118872" cy="118872"/>
          </a:xfrm>
          <a:prstGeom prst="ellipse">
            <a:avLst/>
          </a:prstGeom>
          <a:solidFill>
            <a:srgbClr val="8FBF3F"/>
          </a:solidFill>
          <a:ln/>
        </p:spPr>
      </p:sp>
      <p:sp>
        <p:nvSpPr>
          <p:cNvPr id="8" name="Shape 6"/>
          <p:cNvSpPr/>
          <p:nvPr/>
        </p:nvSpPr>
        <p:spPr>
          <a:xfrm>
            <a:off x="5865876" y="4343400"/>
            <a:ext cx="118872" cy="118872"/>
          </a:xfrm>
          <a:prstGeom prst="ellipse">
            <a:avLst/>
          </a:prstGeom>
          <a:solidFill>
            <a:srgbClr val="7A4BA8"/>
          </a:solidFill>
          <a:ln/>
        </p:spPr>
      </p:sp>
      <p:sp>
        <p:nvSpPr>
          <p:cNvPr id="9" name="Shape 7"/>
          <p:cNvSpPr/>
          <p:nvPr/>
        </p:nvSpPr>
        <p:spPr>
          <a:xfrm>
            <a:off x="6176772" y="4343400"/>
            <a:ext cx="118872" cy="118872"/>
          </a:xfrm>
          <a:prstGeom prst="ellipse">
            <a:avLst/>
          </a:prstGeom>
          <a:solidFill>
            <a:srgbClr val="E08A1E"/>
          </a:solidFill>
          <a:ln/>
        </p:spPr>
      </p:sp>
      <p:sp>
        <p:nvSpPr>
          <p:cNvPr id="10" name="Shape 8"/>
          <p:cNvSpPr/>
          <p:nvPr/>
        </p:nvSpPr>
        <p:spPr>
          <a:xfrm>
            <a:off x="6487668" y="4343400"/>
            <a:ext cx="118872" cy="118872"/>
          </a:xfrm>
          <a:prstGeom prst="ellipse">
            <a:avLst/>
          </a:prstGeom>
          <a:solidFill>
            <a:srgbClr val="C23B3B"/>
          </a:solidFill>
          <a:ln/>
        </p:spPr>
      </p:sp>
      <p:sp>
        <p:nvSpPr>
          <p:cNvPr id="11" name="Shape 9"/>
          <p:cNvSpPr/>
          <p:nvPr/>
        </p:nvSpPr>
        <p:spPr>
          <a:xfrm>
            <a:off x="6798564" y="4343400"/>
            <a:ext cx="118872" cy="118872"/>
          </a:xfrm>
          <a:prstGeom prst="ellipse">
            <a:avLst/>
          </a:prstGeom>
          <a:solidFill>
            <a:srgbClr val="E0BF1E"/>
          </a:solidFill>
          <a:ln/>
        </p:spPr>
      </p:sp>
      <p:sp>
        <p:nvSpPr>
          <p:cNvPr id="12" name="Shape 10"/>
          <p:cNvSpPr/>
          <p:nvPr/>
        </p:nvSpPr>
        <p:spPr>
          <a:xfrm>
            <a:off x="7109460" y="4343400"/>
            <a:ext cx="118872" cy="118872"/>
          </a:xfrm>
          <a:prstGeom prst="ellipse">
            <a:avLst/>
          </a:prstGeom>
          <a:solidFill>
            <a:srgbClr val="7F7F7F"/>
          </a:solidFill>
          <a:ln/>
        </p:spPr>
      </p:sp>
      <p:sp>
        <p:nvSpPr>
          <p:cNvPr id="13" name="Shape 11"/>
          <p:cNvSpPr/>
          <p:nvPr/>
        </p:nvSpPr>
        <p:spPr>
          <a:xfrm>
            <a:off x="7420356" y="4343400"/>
            <a:ext cx="118872" cy="118872"/>
          </a:xfrm>
          <a:prstGeom prst="ellipse">
            <a:avLst/>
          </a:prstGeom>
          <a:solidFill>
            <a:srgbClr val="3BBFBF"/>
          </a:solidFill>
          <a:ln/>
        </p:spPr>
      </p:sp>
      <p:sp>
        <p:nvSpPr>
          <p:cNvPr id="14" name="Text 12"/>
          <p:cNvSpPr/>
          <p:nvPr/>
        </p:nvSpPr>
        <p:spPr>
          <a:xfrm>
            <a:off x="914400" y="4846320"/>
            <a:ext cx="10332720" cy="822960"/>
          </a:xfrm>
          <a:prstGeom prst="rect">
            <a:avLst/>
          </a:prstGeom>
          <a:noFill/>
          <a:ln/>
        </p:spPr>
        <p:txBody>
          <a:bodyPr wrap="square" rtlCol="0" anchor="ctr"/>
          <a:lstStyle/>
          <a:p>
            <a:pPr algn="ctr" indent="0" marL="0">
              <a:buNone/>
            </a:pPr>
            <a:r>
              <a:rPr lang="en-US" sz="1600" dirty="0">
                <a:solidFill>
                  <a:srgbClr val="D8E4F5"/>
                </a:solidFill>
                <a:latin typeface="SF Pro Text" pitchFamily="34" charset="0"/>
                <a:ea typeface="SF Pro Text" pitchFamily="34" charset="-122"/>
                <a:cs typeface="SF Pro Text" pitchFamily="34" charset="-120"/>
              </a:rPr>
              <a:t>Kengo Harimoto</a:t>
            </a:r>
            <a:endParaRPr lang="en-US" sz="1600" dirty="0"/>
          </a:p>
          <a:p>
            <a:pPr algn="ctr" indent="0" marL="0">
              <a:buNone/>
            </a:pPr>
            <a:r>
              <a:rPr lang="en-US" sz="1600" dirty="0">
                <a:solidFill>
                  <a:srgbClr val="D8E4F5"/>
                </a:solidFill>
                <a:latin typeface="SF Pro Text" pitchFamily="34" charset="0"/>
                <a:ea typeface="SF Pro Text" pitchFamily="34" charset="-122"/>
                <a:cs typeface="SF Pro Text" pitchFamily="34" charset="-120"/>
              </a:rPr>
              <a:t>DICSEP 11 · 4 August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hero_W1_delta_MDS.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THE PICTURE</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This map was drawn by counting linguistic habits — nothing else</a:t>
            </a:r>
            <a:endParaRPr lang="en-US" sz="3000" dirty="0"/>
          </a:p>
        </p:txBody>
      </p:sp>
      <p:sp>
        <p:nvSpPr>
          <p:cNvPr id="4" name="Shape 2"/>
          <p:cNvSpPr/>
          <p:nvPr/>
        </p:nvSpPr>
        <p:spPr>
          <a:xfrm>
            <a:off x="914400" y="2121408"/>
            <a:ext cx="256032" cy="256032"/>
          </a:xfrm>
          <a:prstGeom prst="rect">
            <a:avLst/>
          </a:prstGeom>
          <a:solidFill>
            <a:srgbClr val="1F5FA8"/>
          </a:solidFill>
          <a:ln/>
        </p:spPr>
      </p:sp>
      <p:sp>
        <p:nvSpPr>
          <p:cNvPr id="5" name="Text 3"/>
          <p:cNvSpPr/>
          <p:nvPr/>
        </p:nvSpPr>
        <p:spPr>
          <a:xfrm>
            <a:off x="1417320" y="2011680"/>
            <a:ext cx="5943600" cy="502920"/>
          </a:xfrm>
          <a:prstGeom prst="rect">
            <a:avLst/>
          </a:prstGeom>
          <a:noFill/>
          <a:ln/>
        </p:spPr>
        <p:txBody>
          <a:bodyPr wrap="square" lIns="0" tIns="0" rIns="0" bIns="0" rtlCol="0" anchor="ctr"/>
          <a:lstStyle/>
          <a:p>
            <a:pPr indent="0" marL="0">
              <a:buNone/>
            </a:pPr>
            <a:r>
              <a:rPr lang="en-US" sz="2400" dirty="0">
                <a:solidFill>
                  <a:srgbClr val="222222"/>
                </a:solidFill>
                <a:latin typeface="SF Pro Text" pitchFamily="34" charset="0"/>
                <a:ea typeface="SF Pro Text" pitchFamily="34" charset="-122"/>
                <a:cs typeface="SF Pro Text" pitchFamily="34" charset="-120"/>
              </a:rPr>
              <a:t>no dates</a:t>
            </a:r>
            <a:endParaRPr lang="en-US" sz="2400" dirty="0"/>
          </a:p>
        </p:txBody>
      </p:sp>
      <p:sp>
        <p:nvSpPr>
          <p:cNvPr id="6" name="Text 4"/>
          <p:cNvSpPr/>
          <p:nvPr/>
        </p:nvSpPr>
        <p:spPr>
          <a:xfrm>
            <a:off x="1417320" y="2395728"/>
            <a:ext cx="5943600" cy="320040"/>
          </a:xfrm>
          <a:prstGeom prst="rect">
            <a:avLst/>
          </a:prstGeom>
          <a:noFill/>
          <a:ln/>
        </p:spPr>
        <p:txBody>
          <a:bodyPr wrap="square" lIns="0" tIns="0" rIns="0" bIns="0" rtlCol="0" anchor="ctr"/>
          <a:lstStyle/>
          <a:p>
            <a:pPr indent="0" marL="0">
              <a:buNone/>
            </a:pPr>
            <a:r>
              <a:rPr lang="en-US" sz="1300" i="1" dirty="0">
                <a:solidFill>
                  <a:srgbClr val="777777"/>
                </a:solidFill>
                <a:latin typeface="SF Pro Text" pitchFamily="34" charset="0"/>
                <a:ea typeface="SF Pro Text" pitchFamily="34" charset="-122"/>
                <a:cs typeface="SF Pro Text" pitchFamily="34" charset="-120"/>
              </a:rPr>
              <a:t>entered the computation</a:t>
            </a:r>
            <a:endParaRPr lang="en-US" sz="1300" dirty="0"/>
          </a:p>
        </p:txBody>
      </p:sp>
      <p:sp>
        <p:nvSpPr>
          <p:cNvPr id="7" name="Shape 5"/>
          <p:cNvSpPr/>
          <p:nvPr/>
        </p:nvSpPr>
        <p:spPr>
          <a:xfrm>
            <a:off x="914400" y="2990088"/>
            <a:ext cx="256032" cy="256032"/>
          </a:xfrm>
          <a:prstGeom prst="rect">
            <a:avLst/>
          </a:prstGeom>
          <a:solidFill>
            <a:srgbClr val="1F5FA8"/>
          </a:solidFill>
          <a:ln/>
        </p:spPr>
      </p:sp>
      <p:sp>
        <p:nvSpPr>
          <p:cNvPr id="8" name="Text 6"/>
          <p:cNvSpPr/>
          <p:nvPr/>
        </p:nvSpPr>
        <p:spPr>
          <a:xfrm>
            <a:off x="1417320" y="2880360"/>
            <a:ext cx="5943600" cy="502920"/>
          </a:xfrm>
          <a:prstGeom prst="rect">
            <a:avLst/>
          </a:prstGeom>
          <a:noFill/>
          <a:ln/>
        </p:spPr>
        <p:txBody>
          <a:bodyPr wrap="square" lIns="0" tIns="0" rIns="0" bIns="0" rtlCol="0" anchor="ctr"/>
          <a:lstStyle/>
          <a:p>
            <a:pPr indent="0" marL="0">
              <a:buNone/>
            </a:pPr>
            <a:r>
              <a:rPr lang="en-US" sz="2400" dirty="0">
                <a:solidFill>
                  <a:srgbClr val="222222"/>
                </a:solidFill>
                <a:latin typeface="SF Pro Text" pitchFamily="34" charset="0"/>
                <a:ea typeface="SF Pro Text" pitchFamily="34" charset="-122"/>
                <a:cs typeface="SF Pro Text" pitchFamily="34" charset="-120"/>
              </a:rPr>
              <a:t>no chronology</a:t>
            </a:r>
            <a:endParaRPr lang="en-US" sz="2400" dirty="0"/>
          </a:p>
        </p:txBody>
      </p:sp>
      <p:sp>
        <p:nvSpPr>
          <p:cNvPr id="9" name="Text 7"/>
          <p:cNvSpPr/>
          <p:nvPr/>
        </p:nvSpPr>
        <p:spPr>
          <a:xfrm>
            <a:off x="1417320" y="3264408"/>
            <a:ext cx="5943600" cy="320040"/>
          </a:xfrm>
          <a:prstGeom prst="rect">
            <a:avLst/>
          </a:prstGeom>
          <a:noFill/>
          <a:ln/>
        </p:spPr>
        <p:txBody>
          <a:bodyPr wrap="square" lIns="0" tIns="0" rIns="0" bIns="0" rtlCol="0" anchor="ctr"/>
          <a:lstStyle/>
          <a:p>
            <a:pPr indent="0" marL="0">
              <a:buNone/>
            </a:pPr>
            <a:r>
              <a:rPr lang="en-US" sz="1300" i="1" dirty="0">
                <a:solidFill>
                  <a:srgbClr val="777777"/>
                </a:solidFill>
                <a:latin typeface="SF Pro Text" pitchFamily="34" charset="0"/>
                <a:ea typeface="SF Pro Text" pitchFamily="34" charset="-122"/>
                <a:cs typeface="SF Pro Text" pitchFamily="34" charset="-120"/>
              </a:rPr>
              <a:t>entered the computation</a:t>
            </a:r>
            <a:endParaRPr lang="en-US" sz="1300" dirty="0"/>
          </a:p>
        </p:txBody>
      </p:sp>
      <p:sp>
        <p:nvSpPr>
          <p:cNvPr id="10" name="Shape 8"/>
          <p:cNvSpPr/>
          <p:nvPr/>
        </p:nvSpPr>
        <p:spPr>
          <a:xfrm>
            <a:off x="914400" y="3858768"/>
            <a:ext cx="256032" cy="256032"/>
          </a:xfrm>
          <a:prstGeom prst="rect">
            <a:avLst/>
          </a:prstGeom>
          <a:solidFill>
            <a:srgbClr val="1F5FA8"/>
          </a:solidFill>
          <a:ln/>
        </p:spPr>
      </p:sp>
      <p:sp>
        <p:nvSpPr>
          <p:cNvPr id="11" name="Text 9"/>
          <p:cNvSpPr/>
          <p:nvPr/>
        </p:nvSpPr>
        <p:spPr>
          <a:xfrm>
            <a:off x="1417320" y="3749040"/>
            <a:ext cx="5943600" cy="502920"/>
          </a:xfrm>
          <a:prstGeom prst="rect">
            <a:avLst/>
          </a:prstGeom>
          <a:noFill/>
          <a:ln/>
        </p:spPr>
        <p:txBody>
          <a:bodyPr wrap="square" lIns="0" tIns="0" rIns="0" bIns="0" rtlCol="0" anchor="ctr"/>
          <a:lstStyle/>
          <a:p>
            <a:pPr indent="0" marL="0">
              <a:buNone/>
            </a:pPr>
            <a:r>
              <a:rPr lang="en-US" sz="2400" dirty="0">
                <a:solidFill>
                  <a:srgbClr val="222222"/>
                </a:solidFill>
                <a:latin typeface="SF Pro Text" pitchFamily="34" charset="0"/>
                <a:ea typeface="SF Pro Text" pitchFamily="34" charset="-122"/>
                <a:cs typeface="SF Pro Text" pitchFamily="34" charset="-120"/>
              </a:rPr>
              <a:t>no philological judgment</a:t>
            </a:r>
            <a:endParaRPr lang="en-US" sz="2400" dirty="0"/>
          </a:p>
        </p:txBody>
      </p:sp>
      <p:sp>
        <p:nvSpPr>
          <p:cNvPr id="12" name="Text 10"/>
          <p:cNvSpPr/>
          <p:nvPr/>
        </p:nvSpPr>
        <p:spPr>
          <a:xfrm>
            <a:off x="1417320" y="4133088"/>
            <a:ext cx="5943600" cy="320040"/>
          </a:xfrm>
          <a:prstGeom prst="rect">
            <a:avLst/>
          </a:prstGeom>
          <a:noFill/>
          <a:ln/>
        </p:spPr>
        <p:txBody>
          <a:bodyPr wrap="square" lIns="0" tIns="0" rIns="0" bIns="0" rtlCol="0" anchor="ctr"/>
          <a:lstStyle/>
          <a:p>
            <a:pPr indent="0" marL="0">
              <a:buNone/>
            </a:pPr>
            <a:r>
              <a:rPr lang="en-US" sz="1300" i="1" dirty="0">
                <a:solidFill>
                  <a:srgbClr val="777777"/>
                </a:solidFill>
                <a:latin typeface="SF Pro Text" pitchFamily="34" charset="0"/>
                <a:ea typeface="SF Pro Text" pitchFamily="34" charset="-122"/>
                <a:cs typeface="SF Pro Text" pitchFamily="34" charset="-120"/>
              </a:rPr>
              <a:t>entered the computation</a:t>
            </a:r>
            <a:endParaRPr lang="en-US" sz="1300" dirty="0"/>
          </a:p>
        </p:txBody>
      </p:sp>
      <p:sp>
        <p:nvSpPr>
          <p:cNvPr id="13" name="Shape 11"/>
          <p:cNvSpPr/>
          <p:nvPr/>
        </p:nvSpPr>
        <p:spPr>
          <a:xfrm>
            <a:off x="7452360" y="2148840"/>
            <a:ext cx="0" cy="2240280"/>
          </a:xfrm>
          <a:prstGeom prst="line">
            <a:avLst/>
          </a:prstGeom>
          <a:noFill/>
          <a:ln w="12700">
            <a:solidFill>
              <a:srgbClr val="C8C8C8"/>
            </a:solidFill>
            <a:prstDash val="solid"/>
          </a:ln>
        </p:spPr>
      </p:sp>
      <p:sp>
        <p:nvSpPr>
          <p:cNvPr id="14" name="Text 12"/>
          <p:cNvSpPr/>
          <p:nvPr/>
        </p:nvSpPr>
        <p:spPr>
          <a:xfrm>
            <a:off x="7818120" y="2148840"/>
            <a:ext cx="3749040" cy="2240280"/>
          </a:xfrm>
          <a:prstGeom prst="rect">
            <a:avLst/>
          </a:prstGeom>
          <a:noFill/>
          <a:ln/>
        </p:spPr>
        <p:txBody>
          <a:bodyPr wrap="square" lIns="0" tIns="0" rIns="0" bIns="0" rtlCol="0" anchor="ctr"/>
          <a:lstStyle/>
          <a:p>
            <a:pPr indent="0" marL="0">
              <a:buNone/>
            </a:pPr>
            <a:r>
              <a:rPr lang="en-US" sz="2000" i="1" dirty="0">
                <a:solidFill>
                  <a:srgbClr val="555555"/>
                </a:solidFill>
                <a:latin typeface="SF Pro Display" pitchFamily="34" charset="0"/>
                <a:ea typeface="SF Pro Display" pitchFamily="34" charset="-122"/>
                <a:cs typeface="SF Pro Display" pitchFamily="34" charset="-120"/>
              </a:rPr>
              <a:t>The colors were painted on afterwards.</a:t>
            </a:r>
            <a:endParaRPr lang="en-US" sz="2000" dirty="0"/>
          </a:p>
        </p:txBody>
      </p:sp>
      <p:sp>
        <p:nvSpPr>
          <p:cNvPr id="15" name="Text 13"/>
          <p:cNvSpPr/>
          <p:nvPr/>
        </p:nvSpPr>
        <p:spPr>
          <a:xfrm>
            <a:off x="822960" y="5212080"/>
            <a:ext cx="10515600" cy="731520"/>
          </a:xfrm>
          <a:prstGeom prst="rect">
            <a:avLst/>
          </a:prstGeom>
          <a:noFill/>
          <a:ln/>
        </p:spPr>
        <p:txBody>
          <a:bodyPr wrap="square" rtlCol="0" anchor="ctr"/>
          <a:lstStyle/>
          <a:p>
            <a:pPr algn="ctr" indent="0" marL="0">
              <a:buNone/>
            </a:pPr>
            <a:r>
              <a:rPr lang="en-US" sz="2600" b="1" dirty="0">
                <a:solidFill>
                  <a:srgbClr val="1F5FA8"/>
                </a:solidFill>
                <a:latin typeface="SF Pro Display" pitchFamily="34" charset="0"/>
                <a:ea typeface="SF Pro Display" pitchFamily="34" charset="-122"/>
                <a:cs typeface="SF Pro Display" pitchFamily="34" charset="-120"/>
              </a:rPr>
              <a:t>Yet the familiar relative chronology reads left to right.</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THE PICTURE</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Two questions worth thirty minutes</a:t>
            </a:r>
            <a:endParaRPr lang="en-US" sz="3000" dirty="0"/>
          </a:p>
        </p:txBody>
      </p:sp>
      <p:sp>
        <p:nvSpPr>
          <p:cNvPr id="4" name="Shape 2"/>
          <p:cNvSpPr/>
          <p:nvPr/>
        </p:nvSpPr>
        <p:spPr>
          <a:xfrm>
            <a:off x="1097280" y="2194560"/>
            <a:ext cx="777240" cy="777240"/>
          </a:xfrm>
          <a:prstGeom prst="ellipse">
            <a:avLst/>
          </a:prstGeom>
          <a:solidFill>
            <a:srgbClr val="1F5FA8"/>
          </a:solidFill>
          <a:ln/>
        </p:spPr>
      </p:sp>
      <p:sp>
        <p:nvSpPr>
          <p:cNvPr id="5" name="Text 3"/>
          <p:cNvSpPr/>
          <p:nvPr/>
        </p:nvSpPr>
        <p:spPr>
          <a:xfrm>
            <a:off x="109728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SF Pro Display" pitchFamily="34" charset="0"/>
                <a:ea typeface="SF Pro Display" pitchFamily="34" charset="-122"/>
                <a:cs typeface="SF Pro Display" pitchFamily="34" charset="-120"/>
              </a:rPr>
              <a:t>1</a:t>
            </a:r>
            <a:endParaRPr lang="en-US" sz="2800" dirty="0"/>
          </a:p>
        </p:txBody>
      </p:sp>
      <p:sp>
        <p:nvSpPr>
          <p:cNvPr id="6" name="Text 4"/>
          <p:cNvSpPr/>
          <p:nvPr/>
        </p:nvSpPr>
        <p:spPr>
          <a:xfrm>
            <a:off x="2240280" y="2084832"/>
            <a:ext cx="8778240" cy="1234440"/>
          </a:xfrm>
          <a:prstGeom prst="rect">
            <a:avLst/>
          </a:prstGeom>
          <a:noFill/>
          <a:ln/>
        </p:spPr>
        <p:txBody>
          <a:bodyPr wrap="square" lIns="0" tIns="0" rIns="0" bIns="0" rtlCol="0" anchor="ctr"/>
          <a:lstStyle/>
          <a:p>
            <a:pPr indent="0" marL="0">
              <a:buNone/>
            </a:pPr>
            <a:r>
              <a:rPr lang="en-US" sz="2400" dirty="0">
                <a:solidFill>
                  <a:srgbClr val="222222"/>
                </a:solidFill>
                <a:latin typeface="SF Pro Text" pitchFamily="34" charset="0"/>
                <a:ea typeface="SF Pro Text" pitchFamily="34" charset="-122"/>
                <a:cs typeface="SF Pro Text" pitchFamily="34" charset="-120"/>
              </a:rPr>
              <a:t>What exactly was counted?</a:t>
            </a:r>
            <a:endParaRPr lang="en-US" sz="2400" dirty="0"/>
          </a:p>
        </p:txBody>
      </p:sp>
      <p:sp>
        <p:nvSpPr>
          <p:cNvPr id="7" name="Shape 5"/>
          <p:cNvSpPr/>
          <p:nvPr/>
        </p:nvSpPr>
        <p:spPr>
          <a:xfrm>
            <a:off x="1097280" y="3931920"/>
            <a:ext cx="777240" cy="777240"/>
          </a:xfrm>
          <a:prstGeom prst="ellipse">
            <a:avLst/>
          </a:prstGeom>
          <a:solidFill>
            <a:srgbClr val="1F5FA8"/>
          </a:solidFill>
          <a:ln/>
        </p:spPr>
      </p:sp>
      <p:sp>
        <p:nvSpPr>
          <p:cNvPr id="8" name="Text 6"/>
          <p:cNvSpPr/>
          <p:nvPr/>
        </p:nvSpPr>
        <p:spPr>
          <a:xfrm>
            <a:off x="1097280" y="393192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SF Pro Display" pitchFamily="34" charset="0"/>
                <a:ea typeface="SF Pro Display" pitchFamily="34" charset="-122"/>
                <a:cs typeface="SF Pro Display" pitchFamily="34" charset="-120"/>
              </a:rPr>
              <a:t>2</a:t>
            </a:r>
            <a:endParaRPr lang="en-US" sz="2800" dirty="0"/>
          </a:p>
        </p:txBody>
      </p:sp>
      <p:sp>
        <p:nvSpPr>
          <p:cNvPr id="9" name="Text 7"/>
          <p:cNvSpPr/>
          <p:nvPr/>
        </p:nvSpPr>
        <p:spPr>
          <a:xfrm>
            <a:off x="2240280" y="3822192"/>
            <a:ext cx="8778240" cy="1234440"/>
          </a:xfrm>
          <a:prstGeom prst="rect">
            <a:avLst/>
          </a:prstGeom>
          <a:noFill/>
          <a:ln/>
        </p:spPr>
        <p:txBody>
          <a:bodyPr wrap="square" lIns="0" tIns="0" rIns="0" bIns="0" rtlCol="0" anchor="ctr"/>
          <a:lstStyle/>
          <a:p>
            <a:pPr indent="0" marL="0">
              <a:buNone/>
            </a:pPr>
            <a:r>
              <a:rPr lang="en-US" sz="2400" dirty="0">
                <a:solidFill>
                  <a:srgbClr val="222222"/>
                </a:solidFill>
                <a:latin typeface="SF Pro Text" pitchFamily="34" charset="0"/>
                <a:ea typeface="SF Pro Text" pitchFamily="34" charset="-122"/>
                <a:cs typeface="SF Pro Text" pitchFamily="34" charset="-120"/>
              </a:rPr>
              <a:t>Can the left–right axis be trusted —</a:t>
            </a:r>
            <a:endParaRPr lang="en-US" sz="2400" dirty="0"/>
          </a:p>
          <a:p>
            <a:pPr indent="0" marL="0">
              <a:buNone/>
            </a:pPr>
            <a:r>
              <a:rPr lang="en-US" sz="2400" dirty="0">
                <a:solidFill>
                  <a:srgbClr val="222222"/>
                </a:solidFill>
                <a:latin typeface="SF Pro Text" pitchFamily="34" charset="0"/>
                <a:ea typeface="SF Pro Text" pitchFamily="34" charset="-122"/>
                <a:cs typeface="SF Pro Text" pitchFamily="34" charset="-120"/>
              </a:rPr>
              <a:t>or is it an artifact of one method?</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HOW THE MAP WAS MADE</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The corpus</a:t>
            </a:r>
            <a:endParaRPr lang="en-US" sz="3000" dirty="0"/>
          </a:p>
        </p:txBody>
      </p:sp>
      <p:sp>
        <p:nvSpPr>
          <p:cNvPr id="4" name="Text 2"/>
          <p:cNvSpPr/>
          <p:nvPr/>
        </p:nvSpPr>
        <p:spPr>
          <a:xfrm>
            <a:off x="822960" y="1737360"/>
            <a:ext cx="3383280" cy="1005840"/>
          </a:xfrm>
          <a:prstGeom prst="rect">
            <a:avLst/>
          </a:prstGeom>
          <a:noFill/>
          <a:ln/>
        </p:spPr>
        <p:txBody>
          <a:bodyPr wrap="square" rtlCol="0" anchor="ctr"/>
          <a:lstStyle/>
          <a:p>
            <a:pPr algn="ctr" indent="0" marL="0">
              <a:buNone/>
            </a:pPr>
            <a:r>
              <a:rPr lang="en-US" sz="5400" b="1" dirty="0">
                <a:solidFill>
                  <a:srgbClr val="1F5FA8"/>
                </a:solidFill>
                <a:latin typeface="SF Pro Display" pitchFamily="34" charset="0"/>
                <a:ea typeface="SF Pro Display" pitchFamily="34" charset="-122"/>
                <a:cs typeface="SF Pro Display" pitchFamily="34" charset="-120"/>
              </a:rPr>
              <a:t>111</a:t>
            </a:r>
            <a:endParaRPr lang="en-US" sz="5400" dirty="0"/>
          </a:p>
        </p:txBody>
      </p:sp>
      <p:sp>
        <p:nvSpPr>
          <p:cNvPr id="5" name="Text 3"/>
          <p:cNvSpPr/>
          <p:nvPr/>
        </p:nvSpPr>
        <p:spPr>
          <a:xfrm>
            <a:off x="822960" y="2743200"/>
            <a:ext cx="3383280" cy="731520"/>
          </a:xfrm>
          <a:prstGeom prst="rect">
            <a:avLst/>
          </a:prstGeom>
          <a:noFill/>
          <a:ln/>
        </p:spPr>
        <p:txBody>
          <a:bodyPr wrap="square" rtlCol="0" anchor="ctr"/>
          <a:lstStyle/>
          <a:p>
            <a:pPr algn="ctr" indent="0" marL="0">
              <a:buNone/>
            </a:pPr>
            <a:r>
              <a:rPr lang="en-US" sz="1500" dirty="0">
                <a:solidFill>
                  <a:srgbClr val="555555"/>
                </a:solidFill>
                <a:latin typeface="SF Pro Text" pitchFamily="34" charset="0"/>
                <a:ea typeface="SF Pro Text" pitchFamily="34" charset="-122"/>
                <a:cs typeface="SF Pro Text" pitchFamily="34" charset="-120"/>
              </a:rPr>
              <a:t>texts and sections</a:t>
            </a:r>
            <a:endParaRPr lang="en-US" sz="1500" dirty="0"/>
          </a:p>
        </p:txBody>
      </p:sp>
      <p:sp>
        <p:nvSpPr>
          <p:cNvPr id="6" name="Text 4"/>
          <p:cNvSpPr/>
          <p:nvPr/>
        </p:nvSpPr>
        <p:spPr>
          <a:xfrm>
            <a:off x="4526280" y="1737360"/>
            <a:ext cx="3383280" cy="1005840"/>
          </a:xfrm>
          <a:prstGeom prst="rect">
            <a:avLst/>
          </a:prstGeom>
          <a:noFill/>
          <a:ln/>
        </p:spPr>
        <p:txBody>
          <a:bodyPr wrap="square" rtlCol="0" anchor="ctr"/>
          <a:lstStyle/>
          <a:p>
            <a:pPr algn="ctr" indent="0" marL="0">
              <a:buNone/>
            </a:pPr>
            <a:r>
              <a:rPr lang="en-US" sz="5400" b="1" dirty="0">
                <a:solidFill>
                  <a:srgbClr val="1F5FA8"/>
                </a:solidFill>
                <a:latin typeface="SF Pro Display" pitchFamily="34" charset="0"/>
                <a:ea typeface="SF Pro Display" pitchFamily="34" charset="-122"/>
                <a:cs typeface="SF Pro Display" pitchFamily="34" charset="-120"/>
              </a:rPr>
              <a:t>≈ 4.8 M</a:t>
            </a:r>
            <a:endParaRPr lang="en-US" sz="5400" dirty="0"/>
          </a:p>
        </p:txBody>
      </p:sp>
      <p:sp>
        <p:nvSpPr>
          <p:cNvPr id="7" name="Text 5"/>
          <p:cNvSpPr/>
          <p:nvPr/>
        </p:nvSpPr>
        <p:spPr>
          <a:xfrm>
            <a:off x="4526280" y="2743200"/>
            <a:ext cx="3383280" cy="731520"/>
          </a:xfrm>
          <a:prstGeom prst="rect">
            <a:avLst/>
          </a:prstGeom>
          <a:noFill/>
          <a:ln/>
        </p:spPr>
        <p:txBody>
          <a:bodyPr wrap="square" rtlCol="0" anchor="ctr"/>
          <a:lstStyle/>
          <a:p>
            <a:pPr algn="ctr" indent="0" marL="0">
              <a:buNone/>
            </a:pPr>
            <a:r>
              <a:rPr lang="en-US" sz="1500" dirty="0">
                <a:solidFill>
                  <a:srgbClr val="555555"/>
                </a:solidFill>
                <a:latin typeface="SF Pro Text" pitchFamily="34" charset="0"/>
                <a:ea typeface="SF Pro Text" pitchFamily="34" charset="-122"/>
                <a:cs typeface="SF Pro Text" pitchFamily="34" charset="-120"/>
              </a:rPr>
              <a:t>running words</a:t>
            </a:r>
            <a:endParaRPr lang="en-US" sz="1500" dirty="0"/>
          </a:p>
        </p:txBody>
      </p:sp>
      <p:sp>
        <p:nvSpPr>
          <p:cNvPr id="8" name="Text 6"/>
          <p:cNvSpPr/>
          <p:nvPr/>
        </p:nvSpPr>
        <p:spPr>
          <a:xfrm>
            <a:off x="8229600" y="1737360"/>
            <a:ext cx="3383280" cy="1005840"/>
          </a:xfrm>
          <a:prstGeom prst="rect">
            <a:avLst/>
          </a:prstGeom>
          <a:noFill/>
          <a:ln/>
        </p:spPr>
        <p:txBody>
          <a:bodyPr wrap="square" rtlCol="0" anchor="ctr"/>
          <a:lstStyle/>
          <a:p>
            <a:pPr algn="ctr" indent="0" marL="0">
              <a:buNone/>
            </a:pPr>
            <a:r>
              <a:rPr lang="en-US" sz="5400" b="1" dirty="0">
                <a:solidFill>
                  <a:srgbClr val="1F5FA8"/>
                </a:solidFill>
                <a:latin typeface="SF Pro Display" pitchFamily="34" charset="0"/>
                <a:ea typeface="SF Pro Display" pitchFamily="34" charset="-122"/>
                <a:cs typeface="SF Pro Display" pitchFamily="34" charset="-120"/>
              </a:rPr>
              <a:t>× 2</a:t>
            </a:r>
            <a:endParaRPr lang="en-US" sz="5400" dirty="0"/>
          </a:p>
        </p:txBody>
      </p:sp>
      <p:sp>
        <p:nvSpPr>
          <p:cNvPr id="9" name="Text 7"/>
          <p:cNvSpPr/>
          <p:nvPr/>
        </p:nvSpPr>
        <p:spPr>
          <a:xfrm>
            <a:off x="8229600" y="2743200"/>
            <a:ext cx="3383280" cy="731520"/>
          </a:xfrm>
          <a:prstGeom prst="rect">
            <a:avLst/>
          </a:prstGeom>
          <a:noFill/>
          <a:ln/>
        </p:spPr>
        <p:txBody>
          <a:bodyPr wrap="square" rtlCol="0" anchor="ctr"/>
          <a:lstStyle/>
          <a:p>
            <a:pPr algn="ctr" indent="0" marL="0">
              <a:buNone/>
            </a:pPr>
            <a:r>
              <a:rPr lang="en-US" sz="1500" dirty="0">
                <a:solidFill>
                  <a:srgbClr val="555555"/>
                </a:solidFill>
                <a:latin typeface="SF Pro Text" pitchFamily="34" charset="0"/>
                <a:ea typeface="SF Pro Text" pitchFamily="34" charset="-122"/>
                <a:cs typeface="SF Pro Text" pitchFamily="34" charset="-120"/>
              </a:rPr>
              <a:t>parallel versions:</a:t>
            </a:r>
            <a:endParaRPr lang="en-US" sz="1500" dirty="0"/>
          </a:p>
          <a:p>
            <a:pPr algn="ctr" indent="0" marL="0">
              <a:buNone/>
            </a:pPr>
            <a:r>
              <a:rPr lang="en-US" sz="1500" dirty="0">
                <a:solidFill>
                  <a:srgbClr val="555555"/>
                </a:solidFill>
                <a:latin typeface="SF Pro Text" pitchFamily="34" charset="0"/>
                <a:ea typeface="SF Pro Text" pitchFamily="34" charset="-122"/>
                <a:cs typeface="SF Pro Text" pitchFamily="34" charset="-120"/>
              </a:rPr>
              <a:t>sandhied · unsandhied</a:t>
            </a:r>
            <a:endParaRPr lang="en-US" sz="1500" dirty="0"/>
          </a:p>
        </p:txBody>
      </p:sp>
      <p:sp>
        <p:nvSpPr>
          <p:cNvPr id="10" name="Text 8"/>
          <p:cNvSpPr/>
          <p:nvPr/>
        </p:nvSpPr>
        <p:spPr>
          <a:xfrm>
            <a:off x="1463040" y="3794760"/>
            <a:ext cx="9601200" cy="1371600"/>
          </a:xfrm>
          <a:prstGeom prst="rect">
            <a:avLst/>
          </a:prstGeom>
          <a:noFill/>
          <a:ln/>
        </p:spPr>
        <p:txBody>
          <a:bodyPr wrap="square" rtlCol="0" anchor="ctr"/>
          <a:lstStyle/>
          <a:p>
            <a:pPr marL="152400" indent="-152400">
              <a:spcAft>
                <a:spcPts val="800"/>
              </a:spcAft>
              <a:buSzPct val="100000"/>
              <a:buChar char="•"/>
            </a:pPr>
            <a:r>
              <a:rPr lang="en-US" sz="1700" dirty="0">
                <a:solidFill>
                  <a:srgbClr val="222222"/>
                </a:solidFill>
                <a:latin typeface="SF Pro Text" pitchFamily="34" charset="0"/>
                <a:ea typeface="SF Pro Text" pitchFamily="34" charset="-122"/>
                <a:cs typeface="SF Pro Text" pitchFamily="34" charset="-120"/>
              </a:rPr>
              <a:t>Mahābhārata by parvan (18)  ·  Rāmāyaṇa by kāṇḍa (7)</a:t>
            </a:r>
            <a:endParaRPr lang="en-US" sz="1700" dirty="0"/>
          </a:p>
          <a:p>
            <a:pPr marL="152400" indent="-152400">
              <a:spcAft>
                <a:spcPts val="800"/>
              </a:spcAft>
              <a:buSzPct val="100000"/>
              <a:buChar char="•"/>
            </a:pPr>
            <a:r>
              <a:rPr lang="en-US" sz="1700" dirty="0">
                <a:solidFill>
                  <a:srgbClr val="222222"/>
                </a:solidFill>
                <a:latin typeface="SF Pro Text" pitchFamily="34" charset="0"/>
                <a:ea typeface="SF Pro Text" pitchFamily="34" charset="-122"/>
                <a:cs typeface="SF Pro Text" pitchFamily="34" charset="-120"/>
              </a:rPr>
              <a:t>purāṇas whole, or by khaṇḍa / saṃhitā where transmission demands it</a:t>
            </a:r>
            <a:endParaRPr lang="en-US" sz="1700" dirty="0"/>
          </a:p>
          <a:p>
            <a:pPr marL="152400" indent="-152400">
              <a:spcAft>
                <a:spcPts val="800"/>
              </a:spcAft>
              <a:buSzPct val="100000"/>
              <a:buChar char="•"/>
            </a:pPr>
            <a:r>
              <a:rPr lang="en-US" sz="1700" dirty="0">
                <a:solidFill>
                  <a:srgbClr val="222222"/>
                </a:solidFill>
                <a:latin typeface="SF Pro Text" pitchFamily="34" charset="0"/>
                <a:ea typeface="SF Pro Text" pitchFamily="34" charset="-122"/>
                <a:cs typeface="SF Pro Text" pitchFamily="34" charset="-120"/>
              </a:rPr>
              <a:t>machine-readable editions, cleaned</a:t>
            </a:r>
            <a:endParaRPr lang="en-US" sz="1700" dirty="0"/>
          </a:p>
        </p:txBody>
      </p:sp>
      <p:sp>
        <p:nvSpPr>
          <p:cNvPr id="11" name="Text 9"/>
          <p:cNvSpPr/>
          <p:nvPr/>
        </p:nvSpPr>
        <p:spPr>
          <a:xfrm>
            <a:off x="1463040" y="5394960"/>
            <a:ext cx="9601200" cy="731520"/>
          </a:xfrm>
          <a:prstGeom prst="rect">
            <a:avLst/>
          </a:prstGeom>
          <a:noFill/>
          <a:ln/>
        </p:spPr>
        <p:txBody>
          <a:bodyPr wrap="square" rtlCol="0" anchor="ctr"/>
          <a:lstStyle/>
          <a:p>
            <a:pPr indent="0" marL="0">
              <a:buNone/>
            </a:pPr>
            <a:r>
              <a:rPr lang="en-US" sz="1300" i="1" dirty="0">
                <a:solidFill>
                  <a:srgbClr val="777777"/>
                </a:solidFill>
                <a:latin typeface="SF Pro Text" pitchFamily="34" charset="0"/>
                <a:ea typeface="SF Pro Text" pitchFamily="34" charset="-122"/>
                <a:cs typeface="SF Pro Text" pitchFamily="34" charset="-120"/>
              </a:rPr>
              <a:t>Caveat kept in view: sections differ enormously in length; short fragments are marked with smaller dots on every map.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mfw_habits.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HOW THE MAP WAS MADE</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From counts to distances</a:t>
            </a:r>
            <a:endParaRPr lang="en-US" sz="3000" dirty="0"/>
          </a:p>
        </p:txBody>
      </p:sp>
      <p:sp>
        <p:nvSpPr>
          <p:cNvPr id="4" name="Text 2"/>
          <p:cNvSpPr/>
          <p:nvPr/>
        </p:nvSpPr>
        <p:spPr>
          <a:xfrm>
            <a:off x="822960" y="1920240"/>
            <a:ext cx="5669280" cy="4023360"/>
          </a:xfrm>
          <a:prstGeom prst="rect">
            <a:avLst/>
          </a:prstGeom>
          <a:noFill/>
          <a:ln/>
        </p:spPr>
        <p:txBody>
          <a:bodyPr wrap="square" rtlCol="0" anchor="t"/>
          <a:lstStyle/>
          <a:p>
            <a:pPr indent="0" marL="0">
              <a:spcAft>
                <a:spcPts val="800"/>
              </a:spcAft>
              <a:buNone/>
            </a:pPr>
            <a:r>
              <a:rPr lang="en-US" sz="2000" dirty="0">
                <a:solidFill>
                  <a:srgbClr val="222222"/>
                </a:solidFill>
                <a:latin typeface="SF Pro Text" pitchFamily="34" charset="0"/>
                <a:ea typeface="SF Pro Text" pitchFamily="34" charset="-122"/>
                <a:cs typeface="SF Pro Text" pitchFamily="34" charset="-120"/>
              </a:rPr>
              <a:t>For each pair of texts:</a:t>
            </a:r>
            <a:endParaRPr lang="en-US" sz="1700" dirty="0"/>
          </a:p>
          <a:p>
            <a:pPr indent="0" marL="0">
              <a:spcAft>
                <a:spcPts val="800"/>
              </a:spcAft>
              <a:buNone/>
            </a:pPr>
            <a:r>
              <a:rPr lang="en-US" sz="2000" b="1" dirty="0">
                <a:solidFill>
                  <a:srgbClr val="222222"/>
                </a:solidFill>
                <a:latin typeface="SF Pro Text" pitchFamily="34" charset="0"/>
                <a:ea typeface="SF Pro Text" pitchFamily="34" charset="-122"/>
                <a:cs typeface="SF Pro Text" pitchFamily="34" charset="-120"/>
              </a:rPr>
              <a:t>how differently do they use their most common words?</a:t>
            </a:r>
            <a:endParaRPr lang="en-US" sz="1700" dirty="0"/>
          </a:p>
          <a:p>
            <a:pPr indent="0" marL="0">
              <a:spcAft>
                <a:spcPts val="800"/>
              </a:spcAft>
              <a:buNone/>
            </a:pPr>
            <a:endParaRPr lang="en-US" sz="1700" dirty="0"/>
          </a:p>
          <a:p>
            <a:pPr marL="152400" indent="-152400">
              <a:spcAft>
                <a:spcPts val="800"/>
              </a:spcAft>
              <a:buSzPct val="100000"/>
              <a:buChar char="•"/>
            </a:pPr>
            <a:r>
              <a:rPr lang="en-US" sz="1700" dirty="0">
                <a:solidFill>
                  <a:srgbClr val="222222"/>
                </a:solidFill>
                <a:latin typeface="SF Pro Text" pitchFamily="34" charset="0"/>
                <a:ea typeface="SF Pro Text" pitchFamily="34" charset="-122"/>
                <a:cs typeface="SF Pro Text" pitchFamily="34" charset="-120"/>
              </a:rPr>
              <a:t>similar habits  →  small number</a:t>
            </a:r>
            <a:endParaRPr lang="en-US" sz="1700" dirty="0"/>
          </a:p>
          <a:p>
            <a:pPr marL="152400" indent="-152400">
              <a:spcAft>
                <a:spcPts val="800"/>
              </a:spcAft>
              <a:buSzPct val="100000"/>
              <a:buChar char="•"/>
            </a:pPr>
            <a:r>
              <a:rPr lang="en-US" sz="1700" dirty="0">
                <a:solidFill>
                  <a:srgbClr val="222222"/>
                </a:solidFill>
                <a:latin typeface="SF Pro Text" pitchFamily="34" charset="0"/>
                <a:ea typeface="SF Pro Text" pitchFamily="34" charset="-122"/>
                <a:cs typeface="SF Pro Text" pitchFamily="34" charset="-120"/>
              </a:rPr>
              <a:t>different habits  →  large number</a:t>
            </a:r>
            <a:endParaRPr lang="en-US" sz="1700" dirty="0"/>
          </a:p>
          <a:p>
            <a:pPr indent="0" marL="0">
              <a:spcAft>
                <a:spcPts val="800"/>
              </a:spcAft>
              <a:buNone/>
            </a:pPr>
            <a:endParaRPr lang="en-US" sz="1700" dirty="0"/>
          </a:p>
          <a:p>
            <a:pPr indent="0" marL="0">
              <a:spcAft>
                <a:spcPts val="800"/>
              </a:spcAft>
              <a:buNone/>
            </a:pPr>
            <a:r>
              <a:rPr lang="en-US" sz="1800" dirty="0">
                <a:solidFill>
                  <a:srgbClr val="222222"/>
                </a:solidFill>
                <a:latin typeface="SF Pro Text" pitchFamily="34" charset="0"/>
                <a:ea typeface="SF Pro Text" pitchFamily="34" charset="-122"/>
                <a:cs typeface="SF Pro Text" pitchFamily="34" charset="-120"/>
              </a:rPr>
              <a:t>Result: a 111 × 111 table of stylistic distances</a:t>
            </a:r>
            <a:endParaRPr lang="en-US" sz="1700" dirty="0"/>
          </a:p>
          <a:p>
            <a:pPr indent="0" marL="0">
              <a:spcAft>
                <a:spcPts val="800"/>
              </a:spcAft>
              <a:buNone/>
            </a:pPr>
            <a:r>
              <a:rPr lang="en-US" sz="1300" i="1" dirty="0">
                <a:solidFill>
                  <a:srgbClr val="777777"/>
                </a:solidFill>
                <a:latin typeface="SF Pro Text" pitchFamily="34" charset="0"/>
                <a:ea typeface="SF Pro Text" pitchFamily="34" charset="-122"/>
                <a:cs typeface="SF Pro Text" pitchFamily="34" charset="-120"/>
              </a:rPr>
              <a:t>(Burrows’s Delta — stylometry’s standard workhorse since 2002)</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0" y="2286000"/>
          <a:ext cx="4663440" cy="914400"/>
        </p:xfrm>
        <a:graphic>
          <a:graphicData uri="http://schemas.openxmlformats.org/drawingml/2006/table">
            <a:tbl>
              <a:tblPr/>
              <a:tblGrid>
                <a:gridCol w="3383280"/>
                <a:gridCol w="1280160"/>
              </a:tblGrid>
              <a:tr h="502920">
                <a:tc>
                  <a:txBody>
                    <a:bodyPr/>
                    <a:lstStyle/>
                    <a:p>
                      <a:pPr indent="0" marL="0">
                        <a:buNone/>
                      </a:pPr>
                      <a:r>
                        <a:rPr lang="en-US" sz="1500" b="1" dirty="0">
                          <a:solidFill>
                            <a:srgbClr val="FFFFFF"/>
                          </a:solidFill>
                          <a:latin typeface="SF Pro Text" pitchFamily="34" charset="0"/>
                          <a:ea typeface="SF Pro Text" pitchFamily="34" charset="-122"/>
                          <a:cs typeface="SF Pro Text" pitchFamily="34" charset="-120"/>
                        </a:rPr>
                        <a:t>pair</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5FA8"/>
                    </a:solidFill>
                  </a:tcPr>
                </a:tc>
                <a:tc>
                  <a:txBody>
                    <a:bodyPr/>
                    <a:lstStyle/>
                    <a:p>
                      <a:pPr algn="ctr" indent="0" marL="0">
                        <a:buNone/>
                      </a:pPr>
                      <a:r>
                        <a:rPr lang="en-US" sz="1500" b="1" dirty="0">
                          <a:solidFill>
                            <a:srgbClr val="FFFFFF"/>
                          </a:solidFill>
                          <a:latin typeface="SF Pro Text" pitchFamily="34" charset="0"/>
                          <a:ea typeface="SF Pro Text" pitchFamily="34" charset="-122"/>
                          <a:cs typeface="SF Pro Text" pitchFamily="34" charset="-120"/>
                        </a:rPr>
                        <a:t>distance</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5FA8"/>
                    </a:solidFill>
                  </a:tcPr>
                </a:tc>
              </a:tr>
              <a:tr h="502920">
                <a:tc>
                  <a:txBody>
                    <a:bodyPr/>
                    <a:lstStyle/>
                    <a:p>
                      <a:pPr indent="0" marL="0">
                        <a:buNone/>
                      </a:pPr>
                      <a:r>
                        <a:rPr lang="en-US" sz="1500" dirty="0">
                          <a:solidFill>
                            <a:srgbClr val="222222"/>
                          </a:solidFill>
                          <a:latin typeface="SF Pro Text" pitchFamily="34" charset="0"/>
                          <a:ea typeface="SF Pro Text" pitchFamily="34" charset="-122"/>
                          <a:cs typeface="SF Pro Text" pitchFamily="34" charset="-120"/>
                        </a:rPr>
                        <a:t>MBh 7 (Droṇa)  ↔  MBh 8 (Karṇa)</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22222"/>
                          </a:solidFill>
                          <a:latin typeface="SF Pro Text" pitchFamily="34" charset="0"/>
                          <a:ea typeface="SF Pro Text" pitchFamily="34" charset="-122"/>
                          <a:cs typeface="SF Pro Text" pitchFamily="34" charset="-120"/>
                        </a:rPr>
                        <a:t>0.28</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02920">
                <a:tc>
                  <a:txBody>
                    <a:bodyPr/>
                    <a:lstStyle/>
                    <a:p>
                      <a:pPr indent="0" marL="0">
                        <a:buNone/>
                      </a:pPr>
                      <a:r>
                        <a:rPr lang="en-US" sz="1500" dirty="0">
                          <a:solidFill>
                            <a:srgbClr val="222222"/>
                          </a:solidFill>
                          <a:latin typeface="SF Pro Text" pitchFamily="34" charset="0"/>
                          <a:ea typeface="SF Pro Text" pitchFamily="34" charset="-122"/>
                          <a:cs typeface="SF Pro Text" pitchFamily="34" charset="-120"/>
                        </a:rPr>
                        <a:t>Vāyu  ↔  Brahmāṇḍa</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22222"/>
                          </a:solidFill>
                          <a:latin typeface="SF Pro Text" pitchFamily="34" charset="0"/>
                          <a:ea typeface="SF Pro Text" pitchFamily="34" charset="-122"/>
                          <a:cs typeface="SF Pro Text" pitchFamily="34" charset="-120"/>
                        </a:rPr>
                        <a:t>0.28</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02920">
                <a:tc>
                  <a:txBody>
                    <a:bodyPr/>
                    <a:lstStyle/>
                    <a:p>
                      <a:pPr indent="0" marL="0">
                        <a:buNone/>
                      </a:pPr>
                      <a:r>
                        <a:rPr lang="en-US" sz="1500" i="1" dirty="0">
                          <a:solidFill>
                            <a:srgbClr val="555555"/>
                          </a:solidFill>
                          <a:latin typeface="SF Pro Text" pitchFamily="34" charset="0"/>
                          <a:ea typeface="SF Pro Text" pitchFamily="34" charset="-122"/>
                          <a:cs typeface="SF Pro Text" pitchFamily="34" charset="-120"/>
                        </a:rPr>
                        <a:t>typical pair in this corpus</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500" i="1" dirty="0">
                          <a:solidFill>
                            <a:srgbClr val="555555"/>
                          </a:solidFill>
                          <a:latin typeface="SF Pro Text" pitchFamily="34" charset="0"/>
                          <a:ea typeface="SF Pro Text" pitchFamily="34" charset="-122"/>
                          <a:cs typeface="SF Pro Text" pitchFamily="34" charset="-120"/>
                        </a:rPr>
                        <a:t>1.04</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02920">
                <a:tc>
                  <a:txBody>
                    <a:bodyPr/>
                    <a:lstStyle/>
                    <a:p>
                      <a:pPr indent="0" marL="0">
                        <a:buNone/>
                      </a:pPr>
                      <a:r>
                        <a:rPr lang="en-US" sz="1500" dirty="0">
                          <a:solidFill>
                            <a:srgbClr val="222222"/>
                          </a:solidFill>
                          <a:latin typeface="SF Pro Text" pitchFamily="34" charset="0"/>
                          <a:ea typeface="SF Pro Text" pitchFamily="34" charset="-122"/>
                          <a:cs typeface="SF Pro Text" pitchFamily="34" charset="-120"/>
                        </a:rPr>
                        <a:t>Rām 2 (Ayodhyā)  ↔  Agni</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22222"/>
                          </a:solidFill>
                          <a:latin typeface="SF Pro Text" pitchFamily="34" charset="0"/>
                          <a:ea typeface="SF Pro Text" pitchFamily="34" charset="-122"/>
                          <a:cs typeface="SF Pro Text" pitchFamily="34" charset="-120"/>
                        </a:rPr>
                        <a:t>1.34</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HOW THE MAP WAS MADE</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The same corpus, measured twice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88720" y="2011680"/>
          <a:ext cx="9784080" cy="914400"/>
        </p:xfrm>
        <a:graphic>
          <a:graphicData uri="http://schemas.openxmlformats.org/drawingml/2006/table">
            <a:tbl>
              <a:tblPr/>
              <a:tblGrid>
                <a:gridCol w="1371600"/>
                <a:gridCol w="4206240"/>
                <a:gridCol w="4206240"/>
              </a:tblGrid>
              <a:tr h="685800">
                <a:tc>
                  <a:txBody>
                    <a:bodyPr/>
                    <a:lstStyle/>
                    <a:p>
                      <a:pPr indent="0" marL="0">
                        <a:buNone/>
                      </a:pP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4F7"/>
                    </a:solidFill>
                  </a:tcPr>
                </a:tc>
                <a:tc>
                  <a:txBody>
                    <a:bodyPr/>
                    <a:lstStyle/>
                    <a:p>
                      <a:pPr algn="ctr" indent="0" marL="0">
                        <a:buNone/>
                      </a:pPr>
                      <a:r>
                        <a:rPr lang="en-US" sz="1600" b="1" dirty="0">
                          <a:solidFill>
                            <a:srgbClr val="FFFFFF"/>
                          </a:solidFill>
                          <a:latin typeface="SF Pro Text" pitchFamily="34" charset="0"/>
                          <a:ea typeface="SF Pro Text" pitchFamily="34" charset="-122"/>
                          <a:cs typeface="SF Pro Text" pitchFamily="34" charset="-120"/>
                        </a:rPr>
                        <a:t>Lens 1 — words</a:t>
                      </a:r>
                      <a:endParaRPr lang="en-US" sz="16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5FA8"/>
                    </a:solidFill>
                  </a:tcPr>
                </a:tc>
                <a:tc>
                  <a:txBody>
                    <a:bodyPr/>
                    <a:lstStyle/>
                    <a:p>
                      <a:pPr algn="ctr" indent="0" marL="0">
                        <a:buNone/>
                      </a:pPr>
                      <a:r>
                        <a:rPr lang="en-US" sz="1600" b="1" dirty="0">
                          <a:solidFill>
                            <a:srgbClr val="FFFFFF"/>
                          </a:solidFill>
                          <a:latin typeface="SF Pro Text" pitchFamily="34" charset="0"/>
                          <a:ea typeface="SF Pro Text" pitchFamily="34" charset="-122"/>
                          <a:cs typeface="SF Pro Text" pitchFamily="34" charset="-120"/>
                        </a:rPr>
                        <a:t>Lens 2 — letter groups</a:t>
                      </a:r>
                      <a:endParaRPr lang="en-US" sz="16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5FA8"/>
                    </a:solidFill>
                  </a:tcPr>
                </a:tc>
              </a:tr>
              <a:tr h="685800">
                <a:tc>
                  <a:txBody>
                    <a:bodyPr/>
                    <a:lstStyle/>
                    <a:p>
                      <a:pPr indent="0" marL="0">
                        <a:buNone/>
                      </a:pPr>
                      <a:r>
                        <a:rPr lang="en-US" sz="1500" b="1" dirty="0">
                          <a:solidFill>
                            <a:srgbClr val="555555"/>
                          </a:solidFill>
                          <a:latin typeface="SF Pro Text" pitchFamily="34" charset="0"/>
                          <a:ea typeface="SF Pro Text" pitchFamily="34" charset="-122"/>
                          <a:cs typeface="SF Pro Text" pitchFamily="34" charset="-120"/>
                        </a:rPr>
                        <a:t>counts</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4F7"/>
                    </a:solidFill>
                  </a:tcPr>
                </a:tc>
                <a:tc>
                  <a:txBody>
                    <a:bodyPr/>
                    <a:lstStyle/>
                    <a:p>
                      <a:pPr indent="0" marL="0">
                        <a:buNone/>
                      </a:pPr>
                      <a:r>
                        <a:rPr lang="en-US" sz="1500" dirty="0">
                          <a:solidFill>
                            <a:srgbClr val="222222"/>
                          </a:solidFill>
                          <a:latin typeface="SF Pro Text" pitchFamily="34" charset="0"/>
                          <a:ea typeface="SF Pro Text" pitchFamily="34" charset="-122"/>
                          <a:cs typeface="SF Pro Text" pitchFamily="34" charset="-120"/>
                        </a:rPr>
                        <a:t>the 80 most frequent words</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500" dirty="0">
                          <a:solidFill>
                            <a:srgbClr val="222222"/>
                          </a:solidFill>
                          <a:latin typeface="SF Pro Text" pitchFamily="34" charset="0"/>
                          <a:ea typeface="SF Pro Text" pitchFamily="34" charset="-122"/>
                          <a:cs typeface="SF Pro Text" pitchFamily="34" charset="-120"/>
                        </a:rPr>
                        <a:t>the 5,000 most frequent 3-letter sequences</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85800">
                <a:tc>
                  <a:txBody>
                    <a:bodyPr/>
                    <a:lstStyle/>
                    <a:p>
                      <a:pPr indent="0" marL="0">
                        <a:buNone/>
                      </a:pPr>
                      <a:r>
                        <a:rPr lang="en-US" sz="1500" b="1" dirty="0">
                          <a:solidFill>
                            <a:srgbClr val="555555"/>
                          </a:solidFill>
                          <a:latin typeface="SF Pro Text" pitchFamily="34" charset="0"/>
                          <a:ea typeface="SF Pro Text" pitchFamily="34" charset="-122"/>
                          <a:cs typeface="SF Pro Text" pitchFamily="34" charset="-120"/>
                        </a:rPr>
                        <a:t>input</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4F7"/>
                    </a:solidFill>
                  </a:tcPr>
                </a:tc>
                <a:tc>
                  <a:txBody>
                    <a:bodyPr/>
                    <a:lstStyle/>
                    <a:p>
                      <a:pPr indent="0" marL="0">
                        <a:buNone/>
                      </a:pPr>
                      <a:r>
                        <a:rPr lang="en-US" sz="1500" dirty="0">
                          <a:solidFill>
                            <a:srgbClr val="222222"/>
                          </a:solidFill>
                          <a:latin typeface="SF Pro Text" pitchFamily="34" charset="0"/>
                          <a:ea typeface="SF Pro Text" pitchFamily="34" charset="-122"/>
                          <a:cs typeface="SF Pro Text" pitchFamily="34" charset="-120"/>
                        </a:rPr>
                        <a:t>sandhi dissolved (segmented)</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500" dirty="0">
                          <a:solidFill>
                            <a:srgbClr val="222222"/>
                          </a:solidFill>
                          <a:latin typeface="SF Pro Text" pitchFamily="34" charset="0"/>
                          <a:ea typeface="SF Pro Text" pitchFamily="34" charset="-122"/>
                          <a:cs typeface="SF Pro Text" pitchFamily="34" charset="-120"/>
                        </a:rPr>
                        <a:t>raw sandhied text</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85800">
                <a:tc>
                  <a:txBody>
                    <a:bodyPr/>
                    <a:lstStyle/>
                    <a:p>
                      <a:pPr indent="0" marL="0">
                        <a:buNone/>
                      </a:pPr>
                      <a:r>
                        <a:rPr lang="en-US" sz="1500" b="1" dirty="0">
                          <a:solidFill>
                            <a:srgbClr val="555555"/>
                          </a:solidFill>
                          <a:latin typeface="SF Pro Text" pitchFamily="34" charset="0"/>
                          <a:ea typeface="SF Pro Text" pitchFamily="34" charset="-122"/>
                          <a:cs typeface="SF Pro Text" pitchFamily="34" charset="-120"/>
                        </a:rPr>
                        <a:t>sees</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4F7"/>
                    </a:solidFill>
                  </a:tcPr>
                </a:tc>
                <a:tc>
                  <a:txBody>
                    <a:bodyPr/>
                    <a:lstStyle/>
                    <a:p>
                      <a:pPr indent="0" marL="0">
                        <a:buNone/>
                      </a:pPr>
                      <a:r>
                        <a:rPr lang="en-US" sz="1500" dirty="0">
                          <a:solidFill>
                            <a:srgbClr val="222222"/>
                          </a:solidFill>
                          <a:latin typeface="SF Pro Text" pitchFamily="34" charset="0"/>
                          <a:ea typeface="SF Pro Text" pitchFamily="34" charset="-122"/>
                          <a:cs typeface="SF Pro Text" pitchFamily="34" charset="-120"/>
                        </a:rPr>
                        <a:t>particles, pronouns, vocabulary habits</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500" dirty="0">
                          <a:solidFill>
                            <a:srgbClr val="222222"/>
                          </a:solidFill>
                          <a:latin typeface="SF Pro Text" pitchFamily="34" charset="0"/>
                          <a:ea typeface="SF Pro Text" pitchFamily="34" charset="-122"/>
                          <a:cs typeface="SF Pro Text" pitchFamily="34" charset="-120"/>
                        </a:rPr>
                        <a:t>morphology, phonology, sandhi habits</a:t>
                      </a:r>
                      <a:endParaRPr lang="en-US" sz="1500" dirty="0">
                        <a:latin typeface="SF Pro Text" charset="0"/>
                        <a:ea typeface="SF Pro Text" charset="0"/>
                        <a:cs typeface="SF Pro Text"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822960" y="5303520"/>
            <a:ext cx="10515600" cy="640080"/>
          </a:xfrm>
          <a:prstGeom prst="rect">
            <a:avLst/>
          </a:prstGeom>
          <a:noFill/>
          <a:ln/>
        </p:spPr>
        <p:txBody>
          <a:bodyPr wrap="square" rtlCol="0" anchor="ctr"/>
          <a:lstStyle/>
          <a:p>
            <a:pPr algn="ctr" indent="0" marL="0">
              <a:buNone/>
            </a:pPr>
            <a:r>
              <a:rPr lang="en-US" sz="2000" b="1" dirty="0">
                <a:solidFill>
                  <a:srgbClr val="1F5FA8"/>
                </a:solidFill>
                <a:latin typeface="SF Pro Display" pitchFamily="34" charset="0"/>
                <a:ea typeface="SF Pro Display" pitchFamily="34" charset="-122"/>
                <a:cs typeface="SF Pro Display" pitchFamily="34" charset="-120"/>
              </a:rPr>
              <a:t>Nearly orthogonal measurements — almost no shared failure modes.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mds_explainer.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READING THE MAP · 1</a:t>
            </a:r>
            <a:endParaRPr lang="en-US" sz="1200" dirty="0"/>
          </a:p>
        </p:txBody>
      </p:sp>
      <p:sp>
        <p:nvSpPr>
          <p:cNvPr id="3" name="Text 1"/>
          <p:cNvSpPr/>
          <p:nvPr/>
        </p:nvSpPr>
        <p:spPr>
          <a:xfrm>
            <a:off x="548640" y="512064"/>
            <a:ext cx="11064240" cy="502920"/>
          </a:xfrm>
          <a:prstGeom prst="rect">
            <a:avLst/>
          </a:prstGeom>
          <a:noFill/>
          <a:ln/>
        </p:spPr>
        <p:txBody>
          <a:bodyPr wrap="square" lIns="0" tIns="0" rIns="0" bIns="0" rtlCol="0" anchor="ctr"/>
          <a:lstStyle/>
          <a:p>
            <a:pPr indent="0" marL="0">
              <a:buNone/>
            </a:pPr>
            <a:r>
              <a:rPr lang="en-US" sz="2400" b="1" dirty="0">
                <a:solidFill>
                  <a:srgbClr val="222222"/>
                </a:solidFill>
                <a:latin typeface="SF Pro Display" pitchFamily="34" charset="0"/>
                <a:ea typeface="SF Pro Display" pitchFamily="34" charset="-122"/>
                <a:cs typeface="SF Pro Display" pitchFamily="34" charset="-120"/>
              </a:rPr>
              <a:t>The epic zone</a:t>
            </a:r>
            <a:endParaRPr lang="en-US" sz="2400" dirty="0"/>
          </a:p>
        </p:txBody>
      </p:sp>
      <p:pic>
        <p:nvPicPr>
          <p:cNvPr id="4" name="Image 0" descr="/Users/kengo_1/Desktop/stylometric_works/materials/presentation_2026/figures/hero_W1_delta_MDS_hl-epic.png">    </p:cNvPr>
          <p:cNvPicPr>
            <a:picLocks noChangeAspect="1"/>
          </p:cNvPicPr>
          <p:nvPr/>
        </p:nvPicPr>
        <p:blipFill>
          <a:blip r:embed="rId1"/>
          <a:stretch>
            <a:fillRect/>
          </a:stretch>
        </p:blipFill>
        <p:spPr>
          <a:xfrm>
            <a:off x="961400" y="1097280"/>
            <a:ext cx="10238720" cy="5760720"/>
          </a:xfrm>
          <a:prstGeom prst="rect">
            <a:avLst/>
          </a:prstGeom>
        </p:spPr>
      </p:pic>
      <p:sp>
        <p:nvSpPr>
          <p:cNvPr id="5" name="Shape 2"/>
          <p:cNvSpPr/>
          <p:nvPr/>
        </p:nvSpPr>
        <p:spPr>
          <a:xfrm>
            <a:off x="566928" y="4590288"/>
            <a:ext cx="3246120" cy="1920240"/>
          </a:xfrm>
          <a:prstGeom prst="rect">
            <a:avLst/>
          </a:prstGeom>
          <a:solidFill>
            <a:srgbClr val="FFFFFF">
              <a:alpha val="95000"/>
            </a:srgbClr>
          </a:solidFill>
          <a:ln w="9525">
            <a:solidFill>
              <a:srgbClr val="C8C8C8"/>
            </a:solidFill>
            <a:prstDash val="solid"/>
          </a:ln>
        </p:spPr>
      </p:sp>
      <p:sp>
        <p:nvSpPr>
          <p:cNvPr id="6" name="Text 3"/>
          <p:cNvSpPr/>
          <p:nvPr/>
        </p:nvSpPr>
        <p:spPr>
          <a:xfrm>
            <a:off x="566928" y="4590288"/>
            <a:ext cx="3246120" cy="1920240"/>
          </a:xfrm>
          <a:prstGeom prst="rect">
            <a:avLst/>
          </a:prstGeom>
          <a:noFill/>
          <a:ln/>
        </p:spPr>
        <p:txBody>
          <a:bodyPr wrap="square" lIns="101600" tIns="101600" rIns="101600" bIns="101600" rtlCol="0" anchor="ctr"/>
          <a:lstStyle/>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battle books MBh 6–9 tight; Droṇa ↔ Karṇa the tightest pair (0.28 ≈ ¼ of typical)</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MBh 12–13: mutual nearest neighbours — drifted toward purāṇa-space</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Rām 2–6 hold together; Bāla ↔ Uttara are each other’s nearest neighbour</a:t>
            </a:r>
            <a:endParaRPr lang="en-US" sz="1100" dirty="0"/>
          </a:p>
          <a:p>
            <a:pPr indent="0" marL="0">
              <a:spcAft>
                <a:spcPts val="400"/>
              </a:spcAft>
              <a:buNone/>
            </a:pPr>
            <a:r>
              <a:rPr lang="en-US" sz="1100" i="1" dirty="0">
                <a:solidFill>
                  <a:srgbClr val="555555"/>
                </a:solidFill>
                <a:latin typeface="SF Pro Text" pitchFamily="34" charset="0"/>
                <a:ea typeface="SF Pro Text" pitchFamily="34" charset="-122"/>
                <a:cs typeface="SF Pro Text" pitchFamily="34" charset="-120"/>
              </a:rPr>
              <a:t>Structure recovered blind — without assuming any of 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READING THE MAP · 2</a:t>
            </a:r>
            <a:endParaRPr lang="en-US" sz="1200" dirty="0"/>
          </a:p>
        </p:txBody>
      </p:sp>
      <p:sp>
        <p:nvSpPr>
          <p:cNvPr id="3" name="Text 1"/>
          <p:cNvSpPr/>
          <p:nvPr/>
        </p:nvSpPr>
        <p:spPr>
          <a:xfrm>
            <a:off x="548640" y="512064"/>
            <a:ext cx="11064240" cy="502920"/>
          </a:xfrm>
          <a:prstGeom prst="rect">
            <a:avLst/>
          </a:prstGeom>
          <a:noFill/>
          <a:ln/>
        </p:spPr>
        <p:txBody>
          <a:bodyPr wrap="square" lIns="0" tIns="0" rIns="0" bIns="0" rtlCol="0" anchor="ctr"/>
          <a:lstStyle/>
          <a:p>
            <a:pPr indent="0" marL="0">
              <a:buNone/>
            </a:pPr>
            <a:r>
              <a:rPr lang="en-US" sz="2400" b="1" dirty="0">
                <a:solidFill>
                  <a:srgbClr val="222222"/>
                </a:solidFill>
                <a:latin typeface="SF Pro Display" pitchFamily="34" charset="0"/>
                <a:ea typeface="SF Pro Display" pitchFamily="34" charset="-122"/>
                <a:cs typeface="SF Pro Display" pitchFamily="34" charset="-120"/>
              </a:rPr>
              <a:t>The old purāṇic core?</a:t>
            </a:r>
            <a:endParaRPr lang="en-US" sz="2400" dirty="0"/>
          </a:p>
        </p:txBody>
      </p:sp>
      <p:pic>
        <p:nvPicPr>
          <p:cNvPr id="4" name="Image 0" descr="/Users/kengo_1/Desktop/stylometric_works/materials/presentation_2026/figures/hero_W1_delta_MDS_hl-oldcore.png">    </p:cNvPr>
          <p:cNvPicPr>
            <a:picLocks noChangeAspect="1"/>
          </p:cNvPicPr>
          <p:nvPr/>
        </p:nvPicPr>
        <p:blipFill>
          <a:blip r:embed="rId1"/>
          <a:stretch>
            <a:fillRect/>
          </a:stretch>
        </p:blipFill>
        <p:spPr>
          <a:xfrm>
            <a:off x="961400" y="1097280"/>
            <a:ext cx="10238720" cy="5760720"/>
          </a:xfrm>
          <a:prstGeom prst="rect">
            <a:avLst/>
          </a:prstGeom>
        </p:spPr>
      </p:pic>
      <p:sp>
        <p:nvSpPr>
          <p:cNvPr id="5" name="Shape 2"/>
          <p:cNvSpPr/>
          <p:nvPr/>
        </p:nvSpPr>
        <p:spPr>
          <a:xfrm>
            <a:off x="566928" y="4590288"/>
            <a:ext cx="3246120" cy="1920240"/>
          </a:xfrm>
          <a:prstGeom prst="rect">
            <a:avLst/>
          </a:prstGeom>
          <a:solidFill>
            <a:srgbClr val="FFFFFF">
              <a:alpha val="95000"/>
            </a:srgbClr>
          </a:solidFill>
          <a:ln w="9525">
            <a:solidFill>
              <a:srgbClr val="C8C8C8"/>
            </a:solidFill>
            <a:prstDash val="solid"/>
          </a:ln>
        </p:spPr>
      </p:sp>
      <p:sp>
        <p:nvSpPr>
          <p:cNvPr id="6" name="Text 3"/>
          <p:cNvSpPr/>
          <p:nvPr/>
        </p:nvSpPr>
        <p:spPr>
          <a:xfrm>
            <a:off x="566928" y="4590288"/>
            <a:ext cx="3246120" cy="1920240"/>
          </a:xfrm>
          <a:prstGeom prst="rect">
            <a:avLst/>
          </a:prstGeom>
          <a:noFill/>
          <a:ln/>
        </p:spPr>
        <p:txBody>
          <a:bodyPr wrap="square" lIns="101600" tIns="101600" rIns="101600" bIns="101600" rtlCol="0" anchor="ctr"/>
          <a:lstStyle/>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Vāyu ↔ Brahmāṇḍa: 0.28 — Kirfel’s Vāyuproktaṃ Purāṇam, as a number</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Viṣṇu ↔ Mārkaṇḍeya: mutual nearest neighbours, in both lenses</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Matsya’s cosmogonic chapters sit with them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READING THE MAP · 3</a:t>
            </a:r>
            <a:endParaRPr lang="en-US" sz="1200" dirty="0"/>
          </a:p>
        </p:txBody>
      </p:sp>
      <p:sp>
        <p:nvSpPr>
          <p:cNvPr id="3" name="Text 1"/>
          <p:cNvSpPr/>
          <p:nvPr/>
        </p:nvSpPr>
        <p:spPr>
          <a:xfrm>
            <a:off x="548640" y="512064"/>
            <a:ext cx="11064240" cy="502920"/>
          </a:xfrm>
          <a:prstGeom prst="rect">
            <a:avLst/>
          </a:prstGeom>
          <a:noFill/>
          <a:ln/>
        </p:spPr>
        <p:txBody>
          <a:bodyPr wrap="square" lIns="0" tIns="0" rIns="0" bIns="0" rtlCol="0" anchor="ctr"/>
          <a:lstStyle/>
          <a:p>
            <a:pPr indent="0" marL="0">
              <a:buNone/>
            </a:pPr>
            <a:r>
              <a:rPr lang="en-US" sz="2400" b="1" dirty="0">
                <a:solidFill>
                  <a:srgbClr val="222222"/>
                </a:solidFill>
                <a:latin typeface="SF Pro Display" pitchFamily="34" charset="0"/>
                <a:ea typeface="SF Pro Display" pitchFamily="34" charset="-122"/>
                <a:cs typeface="SF Pro Display" pitchFamily="34" charset="-120"/>
              </a:rPr>
              <a:t>The old Skandapurāṇa: mostly old but Pāśupata yoga added later</a:t>
            </a:r>
            <a:endParaRPr lang="en-US" sz="2400" dirty="0"/>
          </a:p>
        </p:txBody>
      </p:sp>
      <p:pic>
        <p:nvPicPr>
          <p:cNvPr id="4" name="Image 0" descr="/Users/kengo_1/Desktop/stylometric_works/materials/presentation_2026/figures/hero_W1_delta_MDS_hl-oldsp.png">    </p:cNvPr>
          <p:cNvPicPr>
            <a:picLocks noChangeAspect="1"/>
          </p:cNvPicPr>
          <p:nvPr/>
        </p:nvPicPr>
        <p:blipFill>
          <a:blip r:embed="rId1"/>
          <a:stretch>
            <a:fillRect/>
          </a:stretch>
        </p:blipFill>
        <p:spPr>
          <a:xfrm>
            <a:off x="961400" y="1097280"/>
            <a:ext cx="10238720" cy="5760720"/>
          </a:xfrm>
          <a:prstGeom prst="rect">
            <a:avLst/>
          </a:prstGeom>
        </p:spPr>
      </p:pic>
      <p:sp>
        <p:nvSpPr>
          <p:cNvPr id="5" name="Shape 2"/>
          <p:cNvSpPr/>
          <p:nvPr/>
        </p:nvSpPr>
        <p:spPr>
          <a:xfrm>
            <a:off x="566928" y="4590288"/>
            <a:ext cx="3246120" cy="1920240"/>
          </a:xfrm>
          <a:prstGeom prst="rect">
            <a:avLst/>
          </a:prstGeom>
          <a:solidFill>
            <a:srgbClr val="FFFFFF">
              <a:alpha val="95000"/>
            </a:srgbClr>
          </a:solidFill>
          <a:ln w="9525">
            <a:solidFill>
              <a:srgbClr val="C8C8C8"/>
            </a:solidFill>
            <a:prstDash val="solid"/>
          </a:ln>
        </p:spPr>
      </p:sp>
      <p:sp>
        <p:nvSpPr>
          <p:cNvPr id="6" name="Text 3"/>
          <p:cNvSpPr/>
          <p:nvPr/>
        </p:nvSpPr>
        <p:spPr>
          <a:xfrm>
            <a:off x="566928" y="4590288"/>
            <a:ext cx="3246120" cy="1920240"/>
          </a:xfrm>
          <a:prstGeom prst="rect">
            <a:avLst/>
          </a:prstGeom>
          <a:noFill/>
          <a:ln/>
        </p:spPr>
        <p:txBody>
          <a:bodyPr wrap="square" lIns="101600" tIns="101600" rIns="101600" bIns="101600" rtlCol="0" anchor="ctr"/>
          <a:lstStyle/>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the old SP (Nepal/Bengal recension, oldest MS 811 CE) sits between the epics and the old purāṇic core</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word lens: its nearest neighbours are MBh 1, MBh 10 and Rām 6 — it keeps epic diction</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but its Pāśupata section jumps far right, out among the sectarian digests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READING THE MAP · 4</a:t>
            </a:r>
            <a:endParaRPr lang="en-US" sz="1200" dirty="0"/>
          </a:p>
        </p:txBody>
      </p:sp>
      <p:sp>
        <p:nvSpPr>
          <p:cNvPr id="3" name="Text 1"/>
          <p:cNvSpPr/>
          <p:nvPr/>
        </p:nvSpPr>
        <p:spPr>
          <a:xfrm>
            <a:off x="548640" y="512064"/>
            <a:ext cx="11064240" cy="502920"/>
          </a:xfrm>
          <a:prstGeom prst="rect">
            <a:avLst/>
          </a:prstGeom>
          <a:noFill/>
          <a:ln/>
        </p:spPr>
        <p:txBody>
          <a:bodyPr wrap="square" lIns="0" tIns="0" rIns="0" bIns="0" rtlCol="0" anchor="ctr"/>
          <a:lstStyle/>
          <a:p>
            <a:pPr indent="0" marL="0">
              <a:buNone/>
            </a:pPr>
            <a:r>
              <a:rPr lang="en-US" sz="2400" b="1" dirty="0">
                <a:solidFill>
                  <a:srgbClr val="222222"/>
                </a:solidFill>
                <a:latin typeface="SF Pro Display" pitchFamily="34" charset="0"/>
                <a:ea typeface="SF Pro Display" pitchFamily="34" charset="-122"/>
                <a:cs typeface="SF Pro Display" pitchFamily="34" charset="-120"/>
              </a:rPr>
              <a:t>The sectarian &amp; encyclopedic mass</a:t>
            </a:r>
            <a:endParaRPr lang="en-US" sz="2400" dirty="0"/>
          </a:p>
        </p:txBody>
      </p:sp>
      <p:pic>
        <p:nvPicPr>
          <p:cNvPr id="4" name="Image 0" descr="/Users/kengo_1/Desktop/stylometric_works/materials/presentation_2026/figures/hero_W1_delta_MDS_hl-late.png">    </p:cNvPr>
          <p:cNvPicPr>
            <a:picLocks noChangeAspect="1"/>
          </p:cNvPicPr>
          <p:nvPr/>
        </p:nvPicPr>
        <p:blipFill>
          <a:blip r:embed="rId1"/>
          <a:stretch>
            <a:fillRect/>
          </a:stretch>
        </p:blipFill>
        <p:spPr>
          <a:xfrm>
            <a:off x="961400" y="1097280"/>
            <a:ext cx="10238720" cy="5760720"/>
          </a:xfrm>
          <a:prstGeom prst="rect">
            <a:avLst/>
          </a:prstGeom>
        </p:spPr>
      </p:pic>
      <p:sp>
        <p:nvSpPr>
          <p:cNvPr id="5" name="Shape 2"/>
          <p:cNvSpPr/>
          <p:nvPr/>
        </p:nvSpPr>
        <p:spPr>
          <a:xfrm>
            <a:off x="566928" y="4590288"/>
            <a:ext cx="3246120" cy="1920240"/>
          </a:xfrm>
          <a:prstGeom prst="rect">
            <a:avLst/>
          </a:prstGeom>
          <a:solidFill>
            <a:srgbClr val="FFFFFF">
              <a:alpha val="95000"/>
            </a:srgbClr>
          </a:solidFill>
          <a:ln w="9525">
            <a:solidFill>
              <a:srgbClr val="C8C8C8"/>
            </a:solidFill>
            <a:prstDash val="solid"/>
          </a:ln>
        </p:spPr>
      </p:sp>
      <p:sp>
        <p:nvSpPr>
          <p:cNvPr id="6" name="Text 3"/>
          <p:cNvSpPr/>
          <p:nvPr/>
        </p:nvSpPr>
        <p:spPr>
          <a:xfrm>
            <a:off x="566928" y="4590288"/>
            <a:ext cx="3246120" cy="1920240"/>
          </a:xfrm>
          <a:prstGeom prst="rect">
            <a:avLst/>
          </a:prstGeom>
          <a:noFill/>
          <a:ln/>
        </p:spPr>
        <p:txBody>
          <a:bodyPr wrap="square" lIns="101600" tIns="101600" rIns="101600" bIns="101600" rtlCol="0" anchor="ctr"/>
          <a:lstStyle/>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one broad, continuous stratum — no clean line between “middle” and “late”</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Agni · Garuḍa · Nārada: the encyclopedic digests, crowded on the far right</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internally blurry — exactly what compilation literature should look like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READING THE MAP · 5</a:t>
            </a:r>
            <a:endParaRPr lang="en-US" sz="1200" dirty="0"/>
          </a:p>
        </p:txBody>
      </p:sp>
      <p:sp>
        <p:nvSpPr>
          <p:cNvPr id="3" name="Text 1"/>
          <p:cNvSpPr/>
          <p:nvPr/>
        </p:nvSpPr>
        <p:spPr>
          <a:xfrm>
            <a:off x="548640" y="512064"/>
            <a:ext cx="11064240" cy="502920"/>
          </a:xfrm>
          <a:prstGeom prst="rect">
            <a:avLst/>
          </a:prstGeom>
          <a:noFill/>
          <a:ln/>
        </p:spPr>
        <p:txBody>
          <a:bodyPr wrap="square" lIns="0" tIns="0" rIns="0" bIns="0" rtlCol="0" anchor="ctr"/>
          <a:lstStyle/>
          <a:p>
            <a:pPr indent="0" marL="0">
              <a:buNone/>
            </a:pPr>
            <a:r>
              <a:rPr lang="en-US" sz="2400" b="1" dirty="0">
                <a:solidFill>
                  <a:srgbClr val="222222"/>
                </a:solidFill>
                <a:latin typeface="SF Pro Display" pitchFamily="34" charset="0"/>
                <a:ea typeface="SF Pro Display" pitchFamily="34" charset="-122"/>
                <a:cs typeface="SF Pro Display" pitchFamily="34" charset="-120"/>
              </a:rPr>
              <a:t>A purāṇa that refuses to unify</a:t>
            </a:r>
            <a:endParaRPr lang="en-US" sz="2400" dirty="0"/>
          </a:p>
        </p:txBody>
      </p:sp>
      <p:pic>
        <p:nvPicPr>
          <p:cNvPr id="4" name="Image 0" descr="/Users/kengo_1/Desktop/stylometric_works/materials/presentation_2026/figures/hero_W1_delta_MDS_hl-skmp.png">    </p:cNvPr>
          <p:cNvPicPr>
            <a:picLocks noChangeAspect="1"/>
          </p:cNvPicPr>
          <p:nvPr/>
        </p:nvPicPr>
        <p:blipFill>
          <a:blip r:embed="rId1"/>
          <a:stretch>
            <a:fillRect/>
          </a:stretch>
        </p:blipFill>
        <p:spPr>
          <a:xfrm>
            <a:off x="961400" y="1097280"/>
            <a:ext cx="10238720" cy="5760720"/>
          </a:xfrm>
          <a:prstGeom prst="rect">
            <a:avLst/>
          </a:prstGeom>
        </p:spPr>
      </p:pic>
      <p:sp>
        <p:nvSpPr>
          <p:cNvPr id="5" name="Shape 2"/>
          <p:cNvSpPr/>
          <p:nvPr/>
        </p:nvSpPr>
        <p:spPr>
          <a:xfrm>
            <a:off x="566928" y="4590288"/>
            <a:ext cx="3246120" cy="1920240"/>
          </a:xfrm>
          <a:prstGeom prst="rect">
            <a:avLst/>
          </a:prstGeom>
          <a:solidFill>
            <a:srgbClr val="FFFFFF">
              <a:alpha val="95000"/>
            </a:srgbClr>
          </a:solidFill>
          <a:ln w="9525">
            <a:solidFill>
              <a:srgbClr val="C8C8C8"/>
            </a:solidFill>
            <a:prstDash val="solid"/>
          </a:ln>
        </p:spPr>
      </p:sp>
      <p:sp>
        <p:nvSpPr>
          <p:cNvPr id="6" name="Text 3"/>
          <p:cNvSpPr/>
          <p:nvPr/>
        </p:nvSpPr>
        <p:spPr>
          <a:xfrm>
            <a:off x="566928" y="4590288"/>
            <a:ext cx="3246120" cy="1920240"/>
          </a:xfrm>
          <a:prstGeom prst="rect">
            <a:avLst/>
          </a:prstGeom>
          <a:noFill/>
          <a:ln/>
        </p:spPr>
        <p:txBody>
          <a:bodyPr wrap="square" lIns="101600" tIns="101600" rIns="101600" bIns="101600" rtlCol="0" anchor="ctr"/>
          <a:lstStyle/>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the Skāndamahāpurāṇa: 0 of 4 khaṇḍas with an internal nearest neighbour, in either lens</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they share no text; all full-sized — no length caveat</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what connects them: the colophon phrase (śrī)skānde mahāpurāṇe</a:t>
            </a:r>
            <a:endParaRPr lang="en-US" sz="1100" dirty="0"/>
          </a:p>
          <a:p>
            <a:pPr indent="0" marL="0">
              <a:spcAft>
                <a:spcPts val="400"/>
              </a:spcAft>
              <a:buNone/>
            </a:pPr>
            <a:r>
              <a:rPr lang="en-US" sz="1100" i="1" dirty="0">
                <a:solidFill>
                  <a:srgbClr val="555555"/>
                </a:solidFill>
                <a:latin typeface="SF Pro Text" pitchFamily="34" charset="0"/>
                <a:ea typeface="SF Pro Text" pitchFamily="34" charset="-122"/>
                <a:cs typeface="SF Pro Text" pitchFamily="34" charset="-120"/>
              </a:rPr>
              <a:t>ŚiP: same story (3/8, 4/8 internal). Cohesion is measurable — next slide.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READING THE MAP · 6</a:t>
            </a:r>
            <a:endParaRPr lang="en-US" sz="1200" dirty="0"/>
          </a:p>
        </p:txBody>
      </p:sp>
      <p:sp>
        <p:nvSpPr>
          <p:cNvPr id="3" name="Text 1"/>
          <p:cNvSpPr/>
          <p:nvPr/>
        </p:nvSpPr>
        <p:spPr>
          <a:xfrm>
            <a:off x="548640" y="512064"/>
            <a:ext cx="11064240" cy="502920"/>
          </a:xfrm>
          <a:prstGeom prst="rect">
            <a:avLst/>
          </a:prstGeom>
          <a:noFill/>
          <a:ln/>
        </p:spPr>
        <p:txBody>
          <a:bodyPr wrap="square" lIns="0" tIns="0" rIns="0" bIns="0" rtlCol="0" anchor="ctr"/>
          <a:lstStyle/>
          <a:p>
            <a:pPr indent="0" marL="0">
              <a:buNone/>
            </a:pPr>
            <a:r>
              <a:rPr lang="en-US" sz="2400" b="1" dirty="0">
                <a:solidFill>
                  <a:srgbClr val="222222"/>
                </a:solidFill>
                <a:latin typeface="SF Pro Display" pitchFamily="34" charset="0"/>
                <a:ea typeface="SF Pro Display" pitchFamily="34" charset="-122"/>
                <a:cs typeface="SF Pro Display" pitchFamily="34" charset="-120"/>
              </a:rPr>
              <a:t>The Bhāgavata</a:t>
            </a:r>
            <a:endParaRPr lang="en-US" sz="2400" dirty="0"/>
          </a:p>
        </p:txBody>
      </p:sp>
      <p:pic>
        <p:nvPicPr>
          <p:cNvPr id="4" name="Image 0" descr="/Users/kengo_1/Desktop/stylometric_works/materials/presentation_2026/figures/hero_W1_delta_MDS_hl-bhp.png">    </p:cNvPr>
          <p:cNvPicPr>
            <a:picLocks noChangeAspect="1"/>
          </p:cNvPicPr>
          <p:nvPr/>
        </p:nvPicPr>
        <p:blipFill>
          <a:blip r:embed="rId1"/>
          <a:stretch>
            <a:fillRect/>
          </a:stretch>
        </p:blipFill>
        <p:spPr>
          <a:xfrm>
            <a:off x="961400" y="1097280"/>
            <a:ext cx="10238720" cy="5760720"/>
          </a:xfrm>
          <a:prstGeom prst="rect">
            <a:avLst/>
          </a:prstGeom>
        </p:spPr>
      </p:pic>
      <p:sp>
        <p:nvSpPr>
          <p:cNvPr id="5" name="Shape 2"/>
          <p:cNvSpPr/>
          <p:nvPr/>
        </p:nvSpPr>
        <p:spPr>
          <a:xfrm>
            <a:off x="566928" y="4590288"/>
            <a:ext cx="3246120" cy="1920240"/>
          </a:xfrm>
          <a:prstGeom prst="rect">
            <a:avLst/>
          </a:prstGeom>
          <a:solidFill>
            <a:srgbClr val="FFFFFF">
              <a:alpha val="95000"/>
            </a:srgbClr>
          </a:solidFill>
          <a:ln w="9525">
            <a:solidFill>
              <a:srgbClr val="C8C8C8"/>
            </a:solidFill>
            <a:prstDash val="solid"/>
          </a:ln>
        </p:spPr>
      </p:sp>
      <p:sp>
        <p:nvSpPr>
          <p:cNvPr id="6" name="Text 3"/>
          <p:cNvSpPr/>
          <p:nvPr/>
        </p:nvSpPr>
        <p:spPr>
          <a:xfrm>
            <a:off x="566928" y="4590288"/>
            <a:ext cx="3246120" cy="1920240"/>
          </a:xfrm>
          <a:prstGeom prst="rect">
            <a:avLst/>
          </a:prstGeom>
          <a:noFill/>
          <a:ln/>
        </p:spPr>
        <p:txBody>
          <a:bodyPr wrap="square" lIns="101600" tIns="101600" rIns="101600" bIns="101600" rtlCol="0" anchor="ctr"/>
          <a:lstStyle/>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all twelve skandhas’ nearest neighbours are internal — in both lenses</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archaic features noticed for over a century (Michelson 1909; Meier 1931; van Buitenen 1966) — and a date that has never stopped being disputed</a:t>
            </a:r>
            <a:endParaRPr lang="en-US" sz="1100" dirty="0"/>
          </a:p>
          <a:p>
            <a:pPr marL="152400" indent="-152400">
              <a:spcAft>
                <a:spcPts val="400"/>
              </a:spcAft>
              <a:buSzPct val="100000"/>
              <a:buChar char="•"/>
            </a:pPr>
            <a:r>
              <a:rPr lang="en-US" sz="1100" dirty="0">
                <a:solidFill>
                  <a:srgbClr val="222222"/>
                </a:solidFill>
                <a:latin typeface="SF Pro Text" pitchFamily="34" charset="0"/>
                <a:ea typeface="SF Pro Text" pitchFamily="34" charset="-122"/>
                <a:cs typeface="SF Pro Text" pitchFamily="34" charset="-120"/>
              </a:rPr>
              <a:t>the counts find two layers that do not match: bulk habits that are epic, not purāṇic — and a thin, even layer of Vedic particles (aṅga, bata, vāva) found nowhere else in the corpus</a:t>
            </a:r>
            <a:endParaRPr lang="en-US" sz="1100" dirty="0"/>
          </a:p>
          <a:p>
            <a:pPr indent="0" marL="0">
              <a:spcAft>
                <a:spcPts val="400"/>
              </a:spcAft>
              <a:buNone/>
            </a:pPr>
            <a:r>
              <a:rPr lang="en-US" sz="1100" i="1" dirty="0">
                <a:solidFill>
                  <a:srgbClr val="555555"/>
                </a:solidFill>
                <a:latin typeface="SF Pro Text" pitchFamily="34" charset="0"/>
                <a:ea typeface="SF Pro Text" pitchFamily="34" charset="-122"/>
                <a:cs typeface="SF Pro Text" pitchFamily="34" charset="-120"/>
              </a:rPr>
              <a:t>The numbers do not settle its date; they deepen its puzzle.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robustness_grid.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WHY BELIEVE THE AXIS?</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Suppose the axis were an artifact…</a:t>
            </a:r>
            <a:endParaRPr lang="en-US" sz="3000" dirty="0"/>
          </a:p>
        </p:txBody>
      </p:sp>
      <p:sp>
        <p:nvSpPr>
          <p:cNvPr id="4" name="Text 2"/>
          <p:cNvSpPr/>
          <p:nvPr/>
        </p:nvSpPr>
        <p:spPr>
          <a:xfrm>
            <a:off x="822960" y="1828800"/>
            <a:ext cx="4663440" cy="640080"/>
          </a:xfrm>
          <a:prstGeom prst="rect">
            <a:avLst/>
          </a:prstGeom>
          <a:noFill/>
          <a:ln/>
        </p:spPr>
        <p:txBody>
          <a:bodyPr wrap="square" lIns="0" tIns="0" rIns="0" bIns="0" rtlCol="0" anchor="ctr"/>
          <a:lstStyle/>
          <a:p>
            <a:pPr indent="0" marL="0">
              <a:buNone/>
            </a:pPr>
            <a:r>
              <a:rPr lang="en-US" sz="1800" dirty="0">
                <a:solidFill>
                  <a:srgbClr val="222222"/>
                </a:solidFill>
                <a:latin typeface="SF Pro Text" pitchFamily="34" charset="0"/>
                <a:ea typeface="SF Pro Text" pitchFamily="34" charset="-122"/>
                <a:cs typeface="SF Pro Text" pitchFamily="34" charset="-120"/>
              </a:rPr>
              <a:t>a flaw in sandhi segmentation</a:t>
            </a:r>
            <a:endParaRPr lang="en-US" sz="1800" dirty="0"/>
          </a:p>
        </p:txBody>
      </p:sp>
      <p:sp>
        <p:nvSpPr>
          <p:cNvPr id="5" name="Text 3"/>
          <p:cNvSpPr/>
          <p:nvPr/>
        </p:nvSpPr>
        <p:spPr>
          <a:xfrm>
            <a:off x="5577840" y="1828800"/>
            <a:ext cx="548640" cy="640080"/>
          </a:xfrm>
          <a:prstGeom prst="rect">
            <a:avLst/>
          </a:prstGeom>
          <a:noFill/>
          <a:ln/>
        </p:spPr>
        <p:txBody>
          <a:bodyPr wrap="square" lIns="0" tIns="0" rIns="0" bIns="0" rtlCol="0" anchor="ctr"/>
          <a:lstStyle/>
          <a:p>
            <a:pPr algn="ctr" indent="0" marL="0">
              <a:buNone/>
            </a:pPr>
            <a:r>
              <a:rPr lang="en-US" sz="2000" b="1" dirty="0">
                <a:solidFill>
                  <a:srgbClr val="1F5FA8"/>
                </a:solidFill>
                <a:latin typeface="SF Pro Text" pitchFamily="34" charset="0"/>
                <a:ea typeface="SF Pro Text" pitchFamily="34" charset="-122"/>
                <a:cs typeface="SF Pro Text" pitchFamily="34" charset="-120"/>
              </a:rPr>
              <a:t>→</a:t>
            </a:r>
            <a:endParaRPr lang="en-US" sz="2000" dirty="0"/>
          </a:p>
        </p:txBody>
      </p:sp>
      <p:sp>
        <p:nvSpPr>
          <p:cNvPr id="6" name="Text 4"/>
          <p:cNvSpPr/>
          <p:nvPr/>
        </p:nvSpPr>
        <p:spPr>
          <a:xfrm>
            <a:off x="6309360" y="1828800"/>
            <a:ext cx="5120640" cy="640080"/>
          </a:xfrm>
          <a:prstGeom prst="rect">
            <a:avLst/>
          </a:prstGeom>
          <a:noFill/>
          <a:ln/>
        </p:spPr>
        <p:txBody>
          <a:bodyPr wrap="square" lIns="0" tIns="0" rIns="0" bIns="0" rtlCol="0" anchor="ctr"/>
          <a:lstStyle/>
          <a:p>
            <a:pPr indent="0" marL="0">
              <a:buNone/>
            </a:pPr>
            <a:r>
              <a:rPr lang="en-US" sz="1800" i="1" dirty="0">
                <a:solidFill>
                  <a:srgbClr val="555555"/>
                </a:solidFill>
                <a:latin typeface="SF Pro Text" pitchFamily="34" charset="0"/>
                <a:ea typeface="SF Pro Text" pitchFamily="34" charset="-122"/>
                <a:cs typeface="SF Pro Text" pitchFamily="34" charset="-120"/>
              </a:rPr>
              <a:t>could distort the word lens only</a:t>
            </a:r>
            <a:endParaRPr lang="en-US" sz="1800" dirty="0"/>
          </a:p>
        </p:txBody>
      </p:sp>
      <p:sp>
        <p:nvSpPr>
          <p:cNvPr id="7" name="Text 5"/>
          <p:cNvSpPr/>
          <p:nvPr/>
        </p:nvSpPr>
        <p:spPr>
          <a:xfrm>
            <a:off x="822960" y="2697480"/>
            <a:ext cx="4663440" cy="640080"/>
          </a:xfrm>
          <a:prstGeom prst="rect">
            <a:avLst/>
          </a:prstGeom>
          <a:noFill/>
          <a:ln/>
        </p:spPr>
        <p:txBody>
          <a:bodyPr wrap="square" lIns="0" tIns="0" rIns="0" bIns="0" rtlCol="0" anchor="ctr"/>
          <a:lstStyle/>
          <a:p>
            <a:pPr indent="0" marL="0">
              <a:buNone/>
            </a:pPr>
            <a:r>
              <a:rPr lang="en-US" sz="1800" dirty="0">
                <a:solidFill>
                  <a:srgbClr val="222222"/>
                </a:solidFill>
                <a:latin typeface="SF Pro Text" pitchFamily="34" charset="0"/>
                <a:ea typeface="SF Pro Text" pitchFamily="34" charset="-122"/>
                <a:cs typeface="SF Pro Text" pitchFamily="34" charset="-120"/>
              </a:rPr>
              <a:t>an orthographic / sandhi convention</a:t>
            </a:r>
            <a:endParaRPr lang="en-US" sz="1800" dirty="0"/>
          </a:p>
        </p:txBody>
      </p:sp>
      <p:sp>
        <p:nvSpPr>
          <p:cNvPr id="8" name="Text 6"/>
          <p:cNvSpPr/>
          <p:nvPr/>
        </p:nvSpPr>
        <p:spPr>
          <a:xfrm>
            <a:off x="5577840" y="2697480"/>
            <a:ext cx="548640" cy="640080"/>
          </a:xfrm>
          <a:prstGeom prst="rect">
            <a:avLst/>
          </a:prstGeom>
          <a:noFill/>
          <a:ln/>
        </p:spPr>
        <p:txBody>
          <a:bodyPr wrap="square" lIns="0" tIns="0" rIns="0" bIns="0" rtlCol="0" anchor="ctr"/>
          <a:lstStyle/>
          <a:p>
            <a:pPr algn="ctr" indent="0" marL="0">
              <a:buNone/>
            </a:pPr>
            <a:r>
              <a:rPr lang="en-US" sz="2000" b="1" dirty="0">
                <a:solidFill>
                  <a:srgbClr val="1F5FA8"/>
                </a:solidFill>
                <a:latin typeface="SF Pro Text" pitchFamily="34" charset="0"/>
                <a:ea typeface="SF Pro Text" pitchFamily="34" charset="-122"/>
                <a:cs typeface="SF Pro Text" pitchFamily="34" charset="-120"/>
              </a:rPr>
              <a:t>→</a:t>
            </a:r>
            <a:endParaRPr lang="en-US" sz="2000" dirty="0"/>
          </a:p>
        </p:txBody>
      </p:sp>
      <p:sp>
        <p:nvSpPr>
          <p:cNvPr id="9" name="Text 7"/>
          <p:cNvSpPr/>
          <p:nvPr/>
        </p:nvSpPr>
        <p:spPr>
          <a:xfrm>
            <a:off x="6309360" y="2697480"/>
            <a:ext cx="5120640" cy="640080"/>
          </a:xfrm>
          <a:prstGeom prst="rect">
            <a:avLst/>
          </a:prstGeom>
          <a:noFill/>
          <a:ln/>
        </p:spPr>
        <p:txBody>
          <a:bodyPr wrap="square" lIns="0" tIns="0" rIns="0" bIns="0" rtlCol="0" anchor="ctr"/>
          <a:lstStyle/>
          <a:p>
            <a:pPr indent="0" marL="0">
              <a:buNone/>
            </a:pPr>
            <a:r>
              <a:rPr lang="en-US" sz="1800" i="1" dirty="0">
                <a:solidFill>
                  <a:srgbClr val="555555"/>
                </a:solidFill>
                <a:latin typeface="SF Pro Text" pitchFamily="34" charset="0"/>
                <a:ea typeface="SF Pro Text" pitchFamily="34" charset="-122"/>
                <a:cs typeface="SF Pro Text" pitchFamily="34" charset="-120"/>
              </a:rPr>
              <a:t>could distort the 3-gram lens only</a:t>
            </a:r>
            <a:endParaRPr lang="en-US" sz="1800" dirty="0"/>
          </a:p>
        </p:txBody>
      </p:sp>
      <p:sp>
        <p:nvSpPr>
          <p:cNvPr id="10" name="Text 8"/>
          <p:cNvSpPr/>
          <p:nvPr/>
        </p:nvSpPr>
        <p:spPr>
          <a:xfrm>
            <a:off x="822960" y="3566160"/>
            <a:ext cx="4663440" cy="640080"/>
          </a:xfrm>
          <a:prstGeom prst="rect">
            <a:avLst/>
          </a:prstGeom>
          <a:noFill/>
          <a:ln/>
        </p:spPr>
        <p:txBody>
          <a:bodyPr wrap="square" lIns="0" tIns="0" rIns="0" bIns="0" rtlCol="0" anchor="ctr"/>
          <a:lstStyle/>
          <a:p>
            <a:pPr indent="0" marL="0">
              <a:buNone/>
            </a:pPr>
            <a:r>
              <a:rPr lang="en-US" sz="1800" dirty="0">
                <a:solidFill>
                  <a:srgbClr val="222222"/>
                </a:solidFill>
                <a:latin typeface="SF Pro Text" pitchFamily="34" charset="0"/>
                <a:ea typeface="SF Pro Text" pitchFamily="34" charset="-122"/>
                <a:cs typeface="SF Pro Text" pitchFamily="34" charset="-120"/>
              </a:rPr>
              <a:t>a quirk of one distance formula</a:t>
            </a:r>
            <a:endParaRPr lang="en-US" sz="1800" dirty="0"/>
          </a:p>
        </p:txBody>
      </p:sp>
      <p:sp>
        <p:nvSpPr>
          <p:cNvPr id="11" name="Text 9"/>
          <p:cNvSpPr/>
          <p:nvPr/>
        </p:nvSpPr>
        <p:spPr>
          <a:xfrm>
            <a:off x="5577840" y="3566160"/>
            <a:ext cx="548640" cy="640080"/>
          </a:xfrm>
          <a:prstGeom prst="rect">
            <a:avLst/>
          </a:prstGeom>
          <a:noFill/>
          <a:ln/>
        </p:spPr>
        <p:txBody>
          <a:bodyPr wrap="square" lIns="0" tIns="0" rIns="0" bIns="0" rtlCol="0" anchor="ctr"/>
          <a:lstStyle/>
          <a:p>
            <a:pPr algn="ctr" indent="0" marL="0">
              <a:buNone/>
            </a:pPr>
            <a:r>
              <a:rPr lang="en-US" sz="2000" b="1" dirty="0">
                <a:solidFill>
                  <a:srgbClr val="1F5FA8"/>
                </a:solidFill>
                <a:latin typeface="SF Pro Text" pitchFamily="34" charset="0"/>
                <a:ea typeface="SF Pro Text" pitchFamily="34" charset="-122"/>
                <a:cs typeface="SF Pro Text" pitchFamily="34" charset="-120"/>
              </a:rPr>
              <a:t>→</a:t>
            </a:r>
            <a:endParaRPr lang="en-US" sz="2000" dirty="0"/>
          </a:p>
        </p:txBody>
      </p:sp>
      <p:sp>
        <p:nvSpPr>
          <p:cNvPr id="12" name="Text 10"/>
          <p:cNvSpPr/>
          <p:nvPr/>
        </p:nvSpPr>
        <p:spPr>
          <a:xfrm>
            <a:off x="6309360" y="3566160"/>
            <a:ext cx="5120640" cy="640080"/>
          </a:xfrm>
          <a:prstGeom prst="rect">
            <a:avLst/>
          </a:prstGeom>
          <a:noFill/>
          <a:ln/>
        </p:spPr>
        <p:txBody>
          <a:bodyPr wrap="square" lIns="0" tIns="0" rIns="0" bIns="0" rtlCol="0" anchor="ctr"/>
          <a:lstStyle/>
          <a:p>
            <a:pPr indent="0" marL="0">
              <a:buNone/>
            </a:pPr>
            <a:r>
              <a:rPr lang="en-US" sz="1800" i="1" dirty="0">
                <a:solidFill>
                  <a:srgbClr val="555555"/>
                </a:solidFill>
                <a:latin typeface="SF Pro Text" pitchFamily="34" charset="0"/>
                <a:ea typeface="SF Pro Text" pitchFamily="34" charset="-122"/>
                <a:cs typeface="SF Pro Text" pitchFamily="34" charset="-120"/>
              </a:rPr>
              <a:t>fails to explain the other five</a:t>
            </a:r>
            <a:endParaRPr lang="en-US" sz="1800" dirty="0"/>
          </a:p>
        </p:txBody>
      </p:sp>
      <p:sp>
        <p:nvSpPr>
          <p:cNvPr id="13" name="Text 11"/>
          <p:cNvSpPr/>
          <p:nvPr/>
        </p:nvSpPr>
        <p:spPr>
          <a:xfrm>
            <a:off x="822960" y="4663440"/>
            <a:ext cx="10515600" cy="548640"/>
          </a:xfrm>
          <a:prstGeom prst="rect">
            <a:avLst/>
          </a:prstGeom>
          <a:noFill/>
          <a:ln/>
        </p:spPr>
        <p:txBody>
          <a:bodyPr wrap="square" rtlCol="0" anchor="ctr"/>
          <a:lstStyle/>
          <a:p>
            <a:pPr algn="ctr" indent="0" marL="0">
              <a:buNone/>
            </a:pPr>
            <a:r>
              <a:rPr lang="en-US" sz="1800" dirty="0">
                <a:solidFill>
                  <a:srgbClr val="222222"/>
                </a:solidFill>
                <a:latin typeface="SF Pro Text" pitchFamily="34" charset="0"/>
                <a:ea typeface="SF Pro Text" pitchFamily="34" charset="-122"/>
                <a:cs typeface="SF Pro Text" pitchFamily="34" charset="-120"/>
              </a:rPr>
              <a:t>The lenses share almost no assumptions — yet draw the same axis.</a:t>
            </a:r>
            <a:endParaRPr lang="en-US" sz="1800" dirty="0"/>
          </a:p>
        </p:txBody>
      </p:sp>
      <p:sp>
        <p:nvSpPr>
          <p:cNvPr id="14" name="Text 12"/>
          <p:cNvSpPr/>
          <p:nvPr/>
        </p:nvSpPr>
        <p:spPr>
          <a:xfrm>
            <a:off x="822960" y="5303520"/>
            <a:ext cx="10515600" cy="822960"/>
          </a:xfrm>
          <a:prstGeom prst="rect">
            <a:avLst/>
          </a:prstGeom>
          <a:noFill/>
          <a:ln/>
        </p:spPr>
        <p:txBody>
          <a:bodyPr wrap="square" rtlCol="0" anchor="ctr"/>
          <a:lstStyle/>
          <a:p>
            <a:pPr algn="ctr" indent="0" marL="0">
              <a:buNone/>
            </a:pPr>
            <a:r>
              <a:rPr lang="en-US" sz="3000" b="1" dirty="0">
                <a:solidFill>
                  <a:srgbClr val="1F5FA8"/>
                </a:solidFill>
                <a:latin typeface="SF Pro Display" pitchFamily="34" charset="0"/>
                <a:ea typeface="SF Pro Display" pitchFamily="34" charset="-122"/>
                <a:cs typeface="SF Pro Display" pitchFamily="34" charset="-120"/>
              </a:rPr>
              <a:t>The signal is in the texts.</a:t>
            </a:r>
            <a:endParaRPr lang="en-US" sz="3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WHY BELIEVE THE AXIS?</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What the second axis is not</a:t>
            </a:r>
            <a:endParaRPr lang="en-US" sz="3000" dirty="0"/>
          </a:p>
        </p:txBody>
      </p:sp>
      <p:sp>
        <p:nvSpPr>
          <p:cNvPr id="4" name="Text 2"/>
          <p:cNvSpPr/>
          <p:nvPr/>
        </p:nvSpPr>
        <p:spPr>
          <a:xfrm>
            <a:off x="914400" y="2011680"/>
            <a:ext cx="10332720" cy="2011680"/>
          </a:xfrm>
          <a:prstGeom prst="rect">
            <a:avLst/>
          </a:prstGeom>
          <a:noFill/>
          <a:ln/>
        </p:spPr>
        <p:txBody>
          <a:bodyPr wrap="square" rtlCol="0" anchor="t"/>
          <a:lstStyle/>
          <a:p>
            <a:pPr indent="0" marL="0">
              <a:spcAft>
                <a:spcPts val="1000"/>
              </a:spcAft>
              <a:buNone/>
            </a:pPr>
            <a:r>
              <a:rPr lang="en-US" sz="2400" dirty="0">
                <a:solidFill>
                  <a:srgbClr val="222222"/>
                </a:solidFill>
                <a:latin typeface="SF Pro Text" pitchFamily="34" charset="0"/>
                <a:ea typeface="SF Pro Text" pitchFamily="34" charset="-122"/>
                <a:cs typeface="SF Pro Text" pitchFamily="34" charset="-120"/>
              </a:rPr>
              <a:t>The vertical axis is unstable across configurations.</a:t>
            </a:r>
            <a:endParaRPr lang="en-US" sz="2400" dirty="0"/>
          </a:p>
          <a:p>
            <a:pPr indent="0" marL="0">
              <a:spcAft>
                <a:spcPts val="1000"/>
              </a:spcAft>
              <a:buNone/>
            </a:pPr>
            <a:endParaRPr lang="en-US" sz="2400" dirty="0"/>
          </a:p>
          <a:p>
            <a:pPr indent="0" marL="0">
              <a:spcAft>
                <a:spcPts val="1000"/>
              </a:spcAft>
              <a:buNone/>
            </a:pPr>
            <a:r>
              <a:rPr lang="en-US" sz="1800" dirty="0">
                <a:solidFill>
                  <a:srgbClr val="555555"/>
                </a:solidFill>
                <a:latin typeface="SF Pro Text" pitchFamily="34" charset="0"/>
                <a:ea typeface="SF Pro Text" pitchFamily="34" charset="-122"/>
                <a:cs typeface="SF Pro Text" pitchFamily="34" charset="-120"/>
              </a:rPr>
              <a:t>Depending on features and metric it separates by something like genre, region, or sectarian register — no labeling survives all six panels.</a:t>
            </a:r>
            <a:endParaRPr lang="en-US" sz="2400" dirty="0"/>
          </a:p>
        </p:txBody>
      </p:sp>
      <p:sp>
        <p:nvSpPr>
          <p:cNvPr id="5" name="Text 3"/>
          <p:cNvSpPr/>
          <p:nvPr/>
        </p:nvSpPr>
        <p:spPr>
          <a:xfrm>
            <a:off x="640080" y="4480560"/>
            <a:ext cx="10881360" cy="1371600"/>
          </a:xfrm>
          <a:prstGeom prst="rect">
            <a:avLst/>
          </a:prstGeom>
          <a:noFill/>
          <a:ln/>
        </p:spPr>
        <p:txBody>
          <a:bodyPr wrap="square" rtlCol="0" anchor="ctr"/>
          <a:lstStyle/>
          <a:p>
            <a:pPr algn="ctr" indent="0" marL="0">
              <a:buNone/>
            </a:pPr>
            <a:r>
              <a:rPr lang="en-US" sz="2200" b="1" dirty="0">
                <a:solidFill>
                  <a:srgbClr val="1F5FA8"/>
                </a:solidFill>
                <a:latin typeface="SF Pro Display" pitchFamily="34" charset="0"/>
                <a:ea typeface="SF Pro Display" pitchFamily="34" charset="-122"/>
                <a:cs typeface="SF Pro Display" pitchFamily="34" charset="-120"/>
              </a:rPr>
              <a:t>Honest conclusion:  </a:t>
            </a:r>
            <a:pPr algn="ctr" indent="0" marL="0">
              <a:buNone/>
            </a:pPr>
            <a:r>
              <a:rPr lang="en-US" sz="2200" dirty="0">
                <a:solidFill>
                  <a:srgbClr val="1F5FA8"/>
                </a:solidFill>
                <a:latin typeface="SF Pro Display" pitchFamily="34" charset="0"/>
                <a:ea typeface="SF Pro Display" pitchFamily="34" charset="-122"/>
                <a:cs typeface="SF Pro Display" pitchFamily="34" charset="-120"/>
              </a:rPr>
              <a:t>one axis is chronology-like and robust;</a:t>
            </a:r>
            <a:endParaRPr lang="en-US" sz="2200" dirty="0"/>
          </a:p>
          <a:p>
            <a:pPr algn="ctr" indent="0" marL="0">
              <a:buNone/>
            </a:pPr>
            <a:r>
              <a:rPr lang="en-US" sz="2200" dirty="0">
                <a:solidFill>
                  <a:srgbClr val="1F5FA8"/>
                </a:solidFill>
                <a:latin typeface="SF Pro Display" pitchFamily="34" charset="0"/>
                <a:ea typeface="SF Pro Display" pitchFamily="34" charset="-122"/>
                <a:cs typeface="SF Pro Display" pitchFamily="34" charset="-120"/>
              </a:rPr>
              <a:t>the second resists a stable name.</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OLD PROBLEMS, REVIVED</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What the axis is made of</a:t>
            </a:r>
            <a:endParaRPr lang="en-US" sz="3000" dirty="0"/>
          </a:p>
        </p:txBody>
      </p:sp>
      <p:sp>
        <p:nvSpPr>
          <p:cNvPr id="4" name="Text 2"/>
          <p:cNvSpPr/>
          <p:nvPr/>
        </p:nvSpPr>
        <p:spPr>
          <a:xfrm>
            <a:off x="822960" y="1600200"/>
            <a:ext cx="10058400" cy="457200"/>
          </a:xfrm>
          <a:prstGeom prst="rect">
            <a:avLst/>
          </a:prstGeom>
          <a:noFill/>
          <a:ln/>
        </p:spPr>
        <p:txBody>
          <a:bodyPr wrap="square" lIns="0" tIns="0" rIns="0" bIns="0" rtlCol="0" anchor="ctr"/>
          <a:lstStyle/>
          <a:p>
            <a:pPr indent="0" marL="0">
              <a:buNone/>
            </a:pPr>
            <a:r>
              <a:rPr lang="en-US" sz="1900" i="1" dirty="0">
                <a:solidFill>
                  <a:srgbClr val="555555"/>
                </a:solidFill>
                <a:latin typeface="SF Pro Text" pitchFamily="34" charset="0"/>
                <a:ea typeface="SF Pro Text" pitchFamily="34" charset="-122"/>
                <a:cs typeface="SF Pro Text" pitchFamily="34" charset="-120"/>
              </a:rPr>
              <a:t>“Diachronic linguistic drift” — but confounded:</a:t>
            </a:r>
            <a:endParaRPr lang="en-US" sz="1900" dirty="0"/>
          </a:p>
        </p:txBody>
      </p:sp>
      <p:sp>
        <p:nvSpPr>
          <p:cNvPr id="5" name="Text 3"/>
          <p:cNvSpPr/>
          <p:nvPr/>
        </p:nvSpPr>
        <p:spPr>
          <a:xfrm>
            <a:off x="914400" y="2240280"/>
            <a:ext cx="3017520" cy="868680"/>
          </a:xfrm>
          <a:prstGeom prst="rect">
            <a:avLst/>
          </a:prstGeom>
          <a:noFill/>
          <a:ln/>
        </p:spPr>
        <p:txBody>
          <a:bodyPr wrap="square" lIns="0" tIns="0" rIns="0" bIns="0" rtlCol="0" anchor="t"/>
          <a:lstStyle/>
          <a:p>
            <a:pPr indent="0" marL="0">
              <a:buNone/>
            </a:pPr>
            <a:r>
              <a:rPr lang="en-US" sz="1900" b="1" dirty="0">
                <a:solidFill>
                  <a:srgbClr val="1F5FA8"/>
                </a:solidFill>
                <a:latin typeface="SF Pro Display" pitchFamily="34" charset="0"/>
                <a:ea typeface="SF Pro Display" pitchFamily="34" charset="-122"/>
                <a:cs typeface="SF Pro Display" pitchFamily="34" charset="-120"/>
              </a:rPr>
              <a:t>authorial aptitude</a:t>
            </a:r>
            <a:endParaRPr lang="en-US" sz="1900" dirty="0"/>
          </a:p>
        </p:txBody>
      </p:sp>
      <p:sp>
        <p:nvSpPr>
          <p:cNvPr id="6" name="Text 4"/>
          <p:cNvSpPr/>
          <p:nvPr/>
        </p:nvSpPr>
        <p:spPr>
          <a:xfrm>
            <a:off x="4114800" y="2240280"/>
            <a:ext cx="7315200" cy="868680"/>
          </a:xfrm>
          <a:prstGeom prst="rect">
            <a:avLst/>
          </a:prstGeom>
          <a:noFill/>
          <a:ln/>
        </p:spPr>
        <p:txBody>
          <a:bodyPr wrap="square" lIns="0" tIns="0" rIns="0" bIns="0" rtlCol="0" anchor="t"/>
          <a:lstStyle/>
          <a:p>
            <a:pPr indent="0" marL="0">
              <a:buNone/>
            </a:pPr>
            <a:r>
              <a:rPr lang="en-US" sz="1600" dirty="0">
                <a:solidFill>
                  <a:srgbClr val="222222"/>
                </a:solidFill>
                <a:latin typeface="SF Pro Text" pitchFamily="34" charset="0"/>
                <a:ea typeface="SF Pro Text" pitchFamily="34" charset="-122"/>
                <a:cs typeface="SF Pro Text" pitchFamily="34" charset="-120"/>
              </a:rPr>
              <a:t>in composing metrical Sanskrit: the use of more fillers as the aptitude goes down — the better the author, the fewer the fillers</a:t>
            </a:r>
            <a:endParaRPr lang="en-US" sz="1600" dirty="0"/>
          </a:p>
        </p:txBody>
      </p:sp>
      <p:sp>
        <p:nvSpPr>
          <p:cNvPr id="7" name="Text 5"/>
          <p:cNvSpPr/>
          <p:nvPr/>
        </p:nvSpPr>
        <p:spPr>
          <a:xfrm>
            <a:off x="914400" y="3246120"/>
            <a:ext cx="3017520" cy="868680"/>
          </a:xfrm>
          <a:prstGeom prst="rect">
            <a:avLst/>
          </a:prstGeom>
          <a:noFill/>
          <a:ln/>
        </p:spPr>
        <p:txBody>
          <a:bodyPr wrap="square" lIns="0" tIns="0" rIns="0" bIns="0" rtlCol="0" anchor="t"/>
          <a:lstStyle/>
          <a:p>
            <a:pPr indent="0" marL="0">
              <a:buNone/>
            </a:pPr>
            <a:r>
              <a:rPr lang="en-US" sz="1900" b="1" dirty="0">
                <a:solidFill>
                  <a:srgbClr val="1F5FA8"/>
                </a:solidFill>
                <a:latin typeface="SF Pro Display" pitchFamily="34" charset="0"/>
                <a:ea typeface="SF Pro Display" pitchFamily="34" charset="-122"/>
                <a:cs typeface="SF Pro Display" pitchFamily="34" charset="-120"/>
              </a:rPr>
              <a:t>reuse of preexisting material</a:t>
            </a:r>
            <a:endParaRPr lang="en-US" sz="1900" dirty="0"/>
          </a:p>
        </p:txBody>
      </p:sp>
      <p:sp>
        <p:nvSpPr>
          <p:cNvPr id="8" name="Text 6"/>
          <p:cNvSpPr/>
          <p:nvPr/>
        </p:nvSpPr>
        <p:spPr>
          <a:xfrm>
            <a:off x="4114800" y="3246120"/>
            <a:ext cx="7315200" cy="868680"/>
          </a:xfrm>
          <a:prstGeom prst="rect">
            <a:avLst/>
          </a:prstGeom>
          <a:noFill/>
          <a:ln/>
        </p:spPr>
        <p:txBody>
          <a:bodyPr wrap="square" lIns="0" tIns="0" rIns="0" bIns="0" rtlCol="0" anchor="t"/>
          <a:lstStyle/>
          <a:p>
            <a:pPr indent="0" marL="0">
              <a:buNone/>
            </a:pPr>
            <a:r>
              <a:rPr lang="en-US" sz="1600" dirty="0">
                <a:solidFill>
                  <a:srgbClr val="222222"/>
                </a:solidFill>
                <a:latin typeface="SF Pro Text" pitchFamily="34" charset="0"/>
                <a:ea typeface="SF Pro Text" pitchFamily="34" charset="-122"/>
                <a:cs typeface="SF Pro Text" pitchFamily="34" charset="-120"/>
              </a:rPr>
              <a:t>the more the materials are shared, the tighter the groups the containers form (see B8)</a:t>
            </a:r>
            <a:endParaRPr lang="en-US" sz="1600" dirty="0"/>
          </a:p>
        </p:txBody>
      </p:sp>
      <p:sp>
        <p:nvSpPr>
          <p:cNvPr id="9" name="Text 7"/>
          <p:cNvSpPr/>
          <p:nvPr/>
        </p:nvSpPr>
        <p:spPr>
          <a:xfrm>
            <a:off x="914400" y="4251960"/>
            <a:ext cx="3017520" cy="868680"/>
          </a:xfrm>
          <a:prstGeom prst="rect">
            <a:avLst/>
          </a:prstGeom>
          <a:noFill/>
          <a:ln/>
        </p:spPr>
        <p:txBody>
          <a:bodyPr wrap="square" lIns="0" tIns="0" rIns="0" bIns="0" rtlCol="0" anchor="t"/>
          <a:lstStyle/>
          <a:p>
            <a:pPr indent="0" marL="0">
              <a:buNone/>
            </a:pPr>
            <a:r>
              <a:rPr lang="en-US" sz="1900" b="1" dirty="0">
                <a:solidFill>
                  <a:srgbClr val="1F5FA8"/>
                </a:solidFill>
                <a:latin typeface="SF Pro Display" pitchFamily="34" charset="0"/>
                <a:ea typeface="SF Pro Display" pitchFamily="34" charset="-122"/>
                <a:cs typeface="SF Pro Display" pitchFamily="34" charset="-120"/>
              </a:rPr>
              <a:t>genre</a:t>
            </a:r>
            <a:endParaRPr lang="en-US" sz="1900" dirty="0"/>
          </a:p>
        </p:txBody>
      </p:sp>
      <p:sp>
        <p:nvSpPr>
          <p:cNvPr id="10" name="Text 8"/>
          <p:cNvSpPr/>
          <p:nvPr/>
        </p:nvSpPr>
        <p:spPr>
          <a:xfrm>
            <a:off x="4114800" y="4251960"/>
            <a:ext cx="7315200" cy="868680"/>
          </a:xfrm>
          <a:prstGeom prst="rect">
            <a:avLst/>
          </a:prstGeom>
          <a:noFill/>
          <a:ln/>
        </p:spPr>
        <p:txBody>
          <a:bodyPr wrap="square" lIns="0" tIns="0" rIns="0" bIns="0" rtlCol="0" anchor="t"/>
          <a:lstStyle/>
          <a:p>
            <a:pPr indent="0" marL="0">
              <a:buNone/>
            </a:pPr>
            <a:r>
              <a:rPr lang="en-US" sz="1600" dirty="0">
                <a:solidFill>
                  <a:srgbClr val="222222"/>
                </a:solidFill>
                <a:latin typeface="SF Pro Text" pitchFamily="34" charset="0"/>
                <a:ea typeface="SF Pro Text" pitchFamily="34" charset="-122"/>
                <a:cs typeface="SF Pro Text" pitchFamily="34" charset="-120"/>
              </a:rPr>
              <a:t>when the vocabularies are completely different, there is no telling where they land</a:t>
            </a:r>
            <a:endParaRPr lang="en-US" sz="1600" dirty="0"/>
          </a:p>
        </p:txBody>
      </p:sp>
      <p:sp>
        <p:nvSpPr>
          <p:cNvPr id="11" name="Shape 9"/>
          <p:cNvSpPr/>
          <p:nvPr/>
        </p:nvSpPr>
        <p:spPr>
          <a:xfrm>
            <a:off x="914400" y="5349240"/>
            <a:ext cx="10332720" cy="0"/>
          </a:xfrm>
          <a:prstGeom prst="line">
            <a:avLst/>
          </a:prstGeom>
          <a:noFill/>
          <a:ln w="12700">
            <a:solidFill>
              <a:srgbClr val="C8C8C8"/>
            </a:solidFill>
            <a:prstDash val="solid"/>
          </a:ln>
        </p:spPr>
      </p:sp>
      <p:sp>
        <p:nvSpPr>
          <p:cNvPr id="12" name="Text 10"/>
          <p:cNvSpPr/>
          <p:nvPr/>
        </p:nvSpPr>
        <p:spPr>
          <a:xfrm>
            <a:off x="914400" y="5532120"/>
            <a:ext cx="10332720" cy="1005840"/>
          </a:xfrm>
          <a:prstGeom prst="rect">
            <a:avLst/>
          </a:prstGeom>
          <a:noFill/>
          <a:ln/>
        </p:spPr>
        <p:txBody>
          <a:bodyPr wrap="square" lIns="0" tIns="0" rIns="0" bIns="0" rtlCol="0" anchor="t"/>
          <a:lstStyle/>
          <a:p>
            <a:pPr indent="0" marL="0">
              <a:buNone/>
            </a:pPr>
            <a:r>
              <a:rPr lang="en-US" sz="1500" i="1" dirty="0">
                <a:solidFill>
                  <a:srgbClr val="555555"/>
                </a:solidFill>
                <a:latin typeface="SF Pro Text" pitchFamily="34" charset="0"/>
                <a:ea typeface="SF Pro Text" pitchFamily="34" charset="-122"/>
                <a:cs typeface="SF Pro Text" pitchFamily="34" charset="-120"/>
              </a:rPr>
              <a:t>Look at where the final parvans of the MBh landed in our map — exactly the parvans whose relative dates are contested. And look at where the Śivadharmaśāstra and the Śivadharmottara are positioned: the purāṇas known to incorporate them are very much to the left.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OLD PROBLEMS, REVIVED</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What’s the point of this?</a:t>
            </a:r>
            <a:endParaRPr lang="en-US" sz="3000" dirty="0"/>
          </a:p>
        </p:txBody>
      </p:sp>
      <p:sp>
        <p:nvSpPr>
          <p:cNvPr id="4" name="Text 2"/>
          <p:cNvSpPr/>
          <p:nvPr/>
        </p:nvSpPr>
        <p:spPr>
          <a:xfrm>
            <a:off x="914400" y="1645920"/>
            <a:ext cx="10332720" cy="4572000"/>
          </a:xfrm>
          <a:prstGeom prst="rect">
            <a:avLst/>
          </a:prstGeom>
          <a:noFill/>
          <a:ln/>
        </p:spPr>
        <p:txBody>
          <a:bodyPr wrap="square" rtlCol="0" anchor="ctr"/>
          <a:lstStyle/>
          <a:p>
            <a:pPr marL="152400" indent="-152400">
              <a:spcAft>
                <a:spcPts val="1600"/>
              </a:spcAft>
              <a:buSzPct val="100000"/>
              <a:buChar char="•"/>
            </a:pPr>
            <a:r>
              <a:rPr lang="en-US" sz="1700" b="1" dirty="0">
                <a:solidFill>
                  <a:srgbClr val="222222"/>
                </a:solidFill>
                <a:latin typeface="SF Pro Text" pitchFamily="34" charset="0"/>
                <a:ea typeface="SF Pro Text" pitchFamily="34" charset="-122"/>
                <a:cs typeface="SF Pro Text" pitchFamily="34" charset="-120"/>
              </a:rPr>
              <a:t>our lenses confirm some things we had suspected:  </a:t>
            </a:r>
            <a:pPr indent="0" marL="0">
              <a:spcAft>
                <a:spcPts val="1600"/>
              </a:spcAft>
              <a:buNone/>
            </a:pPr>
            <a:r>
              <a:rPr lang="en-US" sz="1700" dirty="0">
                <a:solidFill>
                  <a:srgbClr val="222222"/>
                </a:solidFill>
                <a:latin typeface="SF Pro Text" pitchFamily="34" charset="0"/>
                <a:ea typeface="SF Pro Text" pitchFamily="34" charset="-122"/>
                <a:cs typeface="SF Pro Text" pitchFamily="34" charset="-120"/>
              </a:rPr>
              <a:t>the relative age of the epics; the didactic portions of the MBh being late; the affinity of certain purāṇas; the relative age of uncontaminated purāṇas (Skandapurāṇa)</a:t>
            </a:r>
            <a:endParaRPr lang="en-US" sz="1700" dirty="0"/>
          </a:p>
          <a:p>
            <a:pPr marL="152400" indent="-152400">
              <a:spcAft>
                <a:spcPts val="1600"/>
              </a:spcAft>
              <a:buSzPct val="100000"/>
              <a:buChar char="•"/>
            </a:pPr>
            <a:r>
              <a:rPr lang="en-US" sz="1700" b="1" dirty="0">
                <a:solidFill>
                  <a:srgbClr val="222222"/>
                </a:solidFill>
                <a:latin typeface="SF Pro Text" pitchFamily="34" charset="0"/>
                <a:ea typeface="SF Pro Text" pitchFamily="34" charset="-122"/>
                <a:cs typeface="SF Pro Text" pitchFamily="34" charset="-120"/>
              </a:rPr>
              <a:t>at the same time, they illuminate contentious issues:  </a:t>
            </a:r>
            <a:pPr indent="0" marL="0">
              <a:spcAft>
                <a:spcPts val="1600"/>
              </a:spcAft>
              <a:buNone/>
            </a:pPr>
            <a:r>
              <a:rPr lang="en-US" sz="1700" dirty="0">
                <a:solidFill>
                  <a:srgbClr val="222222"/>
                </a:solidFill>
                <a:latin typeface="SF Pro Text" pitchFamily="34" charset="0"/>
                <a:ea typeface="SF Pro Text" pitchFamily="34" charset="-122"/>
                <a:cs typeface="SF Pro Text" pitchFamily="34" charset="-120"/>
              </a:rPr>
              <a:t>the relative dates of the closing parvans of the Mahābhārata; the relative age of the Mahābhārata and the Rāmāyaṇa — they show up at about the same place, confirming the long-suspected composition at about the same time</a:t>
            </a:r>
            <a:endParaRPr lang="en-US" sz="1700" dirty="0"/>
          </a:p>
          <a:p>
            <a:pPr marL="152400" indent="-152400">
              <a:spcAft>
                <a:spcPts val="1600"/>
              </a:spcAft>
              <a:buSzPct val="100000"/>
              <a:buChar char="•"/>
            </a:pPr>
            <a:r>
              <a:rPr lang="en-US" sz="1700" dirty="0">
                <a:solidFill>
                  <a:srgbClr val="222222"/>
                </a:solidFill>
                <a:latin typeface="SF Pro Text" pitchFamily="34" charset="0"/>
                <a:ea typeface="SF Pro Text" pitchFamily="34" charset="-122"/>
                <a:cs typeface="SF Pro Text" pitchFamily="34" charset="-120"/>
              </a:rPr>
              <a:t>it will not date your text; it will tell you </a:t>
            </a:r>
            <a:pPr indent="0" marL="0">
              <a:spcAft>
                <a:spcPts val="1600"/>
              </a:spcAft>
              <a:buNone/>
            </a:pPr>
            <a:r>
              <a:rPr lang="en-US" sz="1700" b="1" dirty="0">
                <a:solidFill>
                  <a:srgbClr val="222222"/>
                </a:solidFill>
                <a:latin typeface="SF Pro Text" pitchFamily="34" charset="0"/>
                <a:ea typeface="SF Pro Text" pitchFamily="34" charset="-122"/>
                <a:cs typeface="SF Pro Text" pitchFamily="34" charset="-120"/>
              </a:rPr>
              <a:t>whose company it keeps</a:t>
            </a:r>
            <a:endParaRPr lang="en-US" sz="1700" dirty="0"/>
          </a:p>
          <a:p>
            <a:pPr marL="152400" indent="-152400">
              <a:spcAft>
                <a:spcPts val="1600"/>
              </a:spcAft>
              <a:buSzPct val="100000"/>
              <a:buChar char="•"/>
            </a:pPr>
            <a:r>
              <a:rPr lang="en-US" sz="1700" b="1" dirty="0">
                <a:solidFill>
                  <a:srgbClr val="222222"/>
                </a:solidFill>
                <a:latin typeface="SF Pro Text" pitchFamily="34" charset="0"/>
                <a:ea typeface="SF Pro Text" pitchFamily="34" charset="-122"/>
                <a:cs typeface="SF Pro Text" pitchFamily="34" charset="-120"/>
              </a:rPr>
              <a:t>it also tells us where interesting things are happening:  </a:t>
            </a:r>
            <a:pPr indent="0" marL="0">
              <a:spcAft>
                <a:spcPts val="1600"/>
              </a:spcAft>
              <a:buNone/>
            </a:pPr>
            <a:r>
              <a:rPr lang="en-US" sz="1700" dirty="0">
                <a:solidFill>
                  <a:srgbClr val="222222"/>
                </a:solidFill>
                <a:latin typeface="SF Pro Text" pitchFamily="34" charset="0"/>
                <a:ea typeface="SF Pro Text" pitchFamily="34" charset="-122"/>
                <a:cs typeface="SF Pro Text" pitchFamily="34" charset="-120"/>
              </a:rPr>
              <a:t>the uniqueness of the Bhāgavatapurāṇa deserves serious thought again; the composition — not integration — date of the closing parvans wants unprecedented approaches; the provenance of the Bhaviṣya wants fine-grained research; etc., etc., …</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914400" y="502920"/>
            <a:ext cx="10332720" cy="731520"/>
          </a:xfrm>
          <a:prstGeom prst="rect">
            <a:avLst/>
          </a:prstGeom>
          <a:noFill/>
          <a:ln/>
        </p:spPr>
        <p:txBody>
          <a:bodyPr wrap="square" rtlCol="0" anchor="ctr"/>
          <a:lstStyle/>
          <a:p>
            <a:pPr algn="ctr" indent="0" marL="0">
              <a:buNone/>
            </a:pPr>
            <a:r>
              <a:rPr lang="en-US" sz="3000" i="1" dirty="0">
                <a:solidFill>
                  <a:srgbClr val="FFFFFF"/>
                </a:solidFill>
                <a:latin typeface="SF Pro Display" pitchFamily="34" charset="0"/>
                <a:ea typeface="SF Pro Display" pitchFamily="34" charset="-122"/>
                <a:cs typeface="SF Pro Display" pitchFamily="34" charset="-120"/>
              </a:rPr>
              <a:t>Counted habits, familiar history and familiar problems.</a:t>
            </a:r>
            <a:endParaRPr lang="en-US" sz="3000" dirty="0"/>
          </a:p>
        </p:txBody>
      </p:sp>
      <p:pic>
        <p:nvPicPr>
          <p:cNvPr id="3" name="Image 0" descr="/Users/kengo_1/Desktop/stylometric_works/materials/presentation_2026/figures/hero_W1_delta_MDS.png">    </p:cNvPr>
          <p:cNvPicPr>
            <a:picLocks noChangeAspect="1"/>
          </p:cNvPicPr>
          <p:nvPr/>
        </p:nvPicPr>
        <p:blipFill>
          <a:blip r:embed="rId1"/>
          <a:stretch>
            <a:fillRect/>
          </a:stretch>
        </p:blipFill>
        <p:spPr>
          <a:xfrm>
            <a:off x="1691640" y="1417320"/>
            <a:ext cx="8778240" cy="4938995"/>
          </a:xfrm>
          <a:prstGeom prst="rect">
            <a:avLst/>
          </a:prstGeom>
        </p:spPr>
      </p:pic>
      <p:sp>
        <p:nvSpPr>
          <p:cNvPr id="4" name="Shape 1"/>
          <p:cNvSpPr/>
          <p:nvPr/>
        </p:nvSpPr>
        <p:spPr>
          <a:xfrm>
            <a:off x="4622292" y="6510528"/>
            <a:ext cx="118872" cy="118872"/>
          </a:xfrm>
          <a:prstGeom prst="ellipse">
            <a:avLst/>
          </a:prstGeom>
          <a:solidFill>
            <a:srgbClr val="1F5FA8"/>
          </a:solidFill>
          <a:ln/>
        </p:spPr>
      </p:sp>
      <p:sp>
        <p:nvSpPr>
          <p:cNvPr id="5" name="Shape 2"/>
          <p:cNvSpPr/>
          <p:nvPr/>
        </p:nvSpPr>
        <p:spPr>
          <a:xfrm>
            <a:off x="4933188" y="6510528"/>
            <a:ext cx="118872" cy="118872"/>
          </a:xfrm>
          <a:prstGeom prst="ellipse">
            <a:avLst/>
          </a:prstGeom>
          <a:solidFill>
            <a:srgbClr val="7BA7D4"/>
          </a:solidFill>
          <a:ln/>
        </p:spPr>
      </p:sp>
      <p:sp>
        <p:nvSpPr>
          <p:cNvPr id="6" name="Shape 3"/>
          <p:cNvSpPr/>
          <p:nvPr/>
        </p:nvSpPr>
        <p:spPr>
          <a:xfrm>
            <a:off x="5244084" y="6510528"/>
            <a:ext cx="118872" cy="118872"/>
          </a:xfrm>
          <a:prstGeom prst="ellipse">
            <a:avLst/>
          </a:prstGeom>
          <a:solidFill>
            <a:srgbClr val="1A7A3A"/>
          </a:solidFill>
          <a:ln/>
        </p:spPr>
      </p:sp>
      <p:sp>
        <p:nvSpPr>
          <p:cNvPr id="7" name="Shape 4"/>
          <p:cNvSpPr/>
          <p:nvPr/>
        </p:nvSpPr>
        <p:spPr>
          <a:xfrm>
            <a:off x="5554980" y="6510528"/>
            <a:ext cx="118872" cy="118872"/>
          </a:xfrm>
          <a:prstGeom prst="ellipse">
            <a:avLst/>
          </a:prstGeom>
          <a:solidFill>
            <a:srgbClr val="8FBF3F"/>
          </a:solidFill>
          <a:ln/>
        </p:spPr>
      </p:sp>
      <p:sp>
        <p:nvSpPr>
          <p:cNvPr id="8" name="Shape 5"/>
          <p:cNvSpPr/>
          <p:nvPr/>
        </p:nvSpPr>
        <p:spPr>
          <a:xfrm>
            <a:off x="5865876" y="6510528"/>
            <a:ext cx="118872" cy="118872"/>
          </a:xfrm>
          <a:prstGeom prst="ellipse">
            <a:avLst/>
          </a:prstGeom>
          <a:solidFill>
            <a:srgbClr val="7A4BA8"/>
          </a:solidFill>
          <a:ln/>
        </p:spPr>
      </p:sp>
      <p:sp>
        <p:nvSpPr>
          <p:cNvPr id="9" name="Shape 6"/>
          <p:cNvSpPr/>
          <p:nvPr/>
        </p:nvSpPr>
        <p:spPr>
          <a:xfrm>
            <a:off x="6176772" y="6510528"/>
            <a:ext cx="118872" cy="118872"/>
          </a:xfrm>
          <a:prstGeom prst="ellipse">
            <a:avLst/>
          </a:prstGeom>
          <a:solidFill>
            <a:srgbClr val="E08A1E"/>
          </a:solidFill>
          <a:ln/>
        </p:spPr>
      </p:sp>
      <p:sp>
        <p:nvSpPr>
          <p:cNvPr id="10" name="Shape 7"/>
          <p:cNvSpPr/>
          <p:nvPr/>
        </p:nvSpPr>
        <p:spPr>
          <a:xfrm>
            <a:off x="6487668" y="6510528"/>
            <a:ext cx="118872" cy="118872"/>
          </a:xfrm>
          <a:prstGeom prst="ellipse">
            <a:avLst/>
          </a:prstGeom>
          <a:solidFill>
            <a:srgbClr val="C23B3B"/>
          </a:solidFill>
          <a:ln/>
        </p:spPr>
      </p:sp>
      <p:sp>
        <p:nvSpPr>
          <p:cNvPr id="11" name="Shape 8"/>
          <p:cNvSpPr/>
          <p:nvPr/>
        </p:nvSpPr>
        <p:spPr>
          <a:xfrm>
            <a:off x="6798564" y="6510528"/>
            <a:ext cx="118872" cy="118872"/>
          </a:xfrm>
          <a:prstGeom prst="ellipse">
            <a:avLst/>
          </a:prstGeom>
          <a:solidFill>
            <a:srgbClr val="E0BF1E"/>
          </a:solidFill>
          <a:ln/>
        </p:spPr>
      </p:sp>
      <p:sp>
        <p:nvSpPr>
          <p:cNvPr id="12" name="Shape 9"/>
          <p:cNvSpPr/>
          <p:nvPr/>
        </p:nvSpPr>
        <p:spPr>
          <a:xfrm>
            <a:off x="7109460" y="6510528"/>
            <a:ext cx="118872" cy="118872"/>
          </a:xfrm>
          <a:prstGeom prst="ellipse">
            <a:avLst/>
          </a:prstGeom>
          <a:solidFill>
            <a:srgbClr val="7F7F7F"/>
          </a:solidFill>
          <a:ln/>
        </p:spPr>
      </p:sp>
      <p:sp>
        <p:nvSpPr>
          <p:cNvPr id="13" name="Shape 10"/>
          <p:cNvSpPr/>
          <p:nvPr/>
        </p:nvSpPr>
        <p:spPr>
          <a:xfrm>
            <a:off x="7420356" y="6510528"/>
            <a:ext cx="118872" cy="118872"/>
          </a:xfrm>
          <a:prstGeom prst="ellipse">
            <a:avLst/>
          </a:prstGeom>
          <a:solidFill>
            <a:srgbClr val="3BBFBF"/>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914400" y="2743200"/>
            <a:ext cx="10332720" cy="914400"/>
          </a:xfrm>
          <a:prstGeom prst="rect">
            <a:avLst/>
          </a:prstGeom>
          <a:noFill/>
          <a:ln/>
        </p:spPr>
        <p:txBody>
          <a:bodyPr wrap="square" rtlCol="0" anchor="ctr"/>
          <a:lstStyle/>
          <a:p>
            <a:pPr algn="ctr" indent="0" marL="0">
              <a:buNone/>
            </a:pPr>
            <a:r>
              <a:rPr lang="en-US" sz="3600" b="1" dirty="0">
                <a:solidFill>
                  <a:srgbClr val="FFFFFF"/>
                </a:solidFill>
                <a:latin typeface="SF Pro Display" pitchFamily="34" charset="0"/>
                <a:ea typeface="SF Pro Display" pitchFamily="34" charset="-122"/>
                <a:cs typeface="SF Pro Display" pitchFamily="34" charset="-120"/>
              </a:rPr>
              <a:t>Backup slides</a:t>
            </a:r>
            <a:endParaRPr lang="en-US" sz="3600" dirty="0"/>
          </a:p>
        </p:txBody>
      </p:sp>
      <p:sp>
        <p:nvSpPr>
          <p:cNvPr id="3" name="Shape 1"/>
          <p:cNvSpPr/>
          <p:nvPr/>
        </p:nvSpPr>
        <p:spPr>
          <a:xfrm>
            <a:off x="4622292" y="3977640"/>
            <a:ext cx="118872" cy="118872"/>
          </a:xfrm>
          <a:prstGeom prst="ellipse">
            <a:avLst/>
          </a:prstGeom>
          <a:solidFill>
            <a:srgbClr val="1F5FA8"/>
          </a:solidFill>
          <a:ln/>
        </p:spPr>
      </p:sp>
      <p:sp>
        <p:nvSpPr>
          <p:cNvPr id="4" name="Shape 2"/>
          <p:cNvSpPr/>
          <p:nvPr/>
        </p:nvSpPr>
        <p:spPr>
          <a:xfrm>
            <a:off x="4933188" y="3977640"/>
            <a:ext cx="118872" cy="118872"/>
          </a:xfrm>
          <a:prstGeom prst="ellipse">
            <a:avLst/>
          </a:prstGeom>
          <a:solidFill>
            <a:srgbClr val="7BA7D4"/>
          </a:solidFill>
          <a:ln/>
        </p:spPr>
      </p:sp>
      <p:sp>
        <p:nvSpPr>
          <p:cNvPr id="5" name="Shape 3"/>
          <p:cNvSpPr/>
          <p:nvPr/>
        </p:nvSpPr>
        <p:spPr>
          <a:xfrm>
            <a:off x="5244084" y="3977640"/>
            <a:ext cx="118872" cy="118872"/>
          </a:xfrm>
          <a:prstGeom prst="ellipse">
            <a:avLst/>
          </a:prstGeom>
          <a:solidFill>
            <a:srgbClr val="1A7A3A"/>
          </a:solidFill>
          <a:ln/>
        </p:spPr>
      </p:sp>
      <p:sp>
        <p:nvSpPr>
          <p:cNvPr id="6" name="Shape 4"/>
          <p:cNvSpPr/>
          <p:nvPr/>
        </p:nvSpPr>
        <p:spPr>
          <a:xfrm>
            <a:off x="5554980" y="3977640"/>
            <a:ext cx="118872" cy="118872"/>
          </a:xfrm>
          <a:prstGeom prst="ellipse">
            <a:avLst/>
          </a:prstGeom>
          <a:solidFill>
            <a:srgbClr val="8FBF3F"/>
          </a:solidFill>
          <a:ln/>
        </p:spPr>
      </p:sp>
      <p:sp>
        <p:nvSpPr>
          <p:cNvPr id="7" name="Shape 5"/>
          <p:cNvSpPr/>
          <p:nvPr/>
        </p:nvSpPr>
        <p:spPr>
          <a:xfrm>
            <a:off x="5865876" y="3977640"/>
            <a:ext cx="118872" cy="118872"/>
          </a:xfrm>
          <a:prstGeom prst="ellipse">
            <a:avLst/>
          </a:prstGeom>
          <a:solidFill>
            <a:srgbClr val="7A4BA8"/>
          </a:solidFill>
          <a:ln/>
        </p:spPr>
      </p:sp>
      <p:sp>
        <p:nvSpPr>
          <p:cNvPr id="8" name="Shape 6"/>
          <p:cNvSpPr/>
          <p:nvPr/>
        </p:nvSpPr>
        <p:spPr>
          <a:xfrm>
            <a:off x="6176772" y="3977640"/>
            <a:ext cx="118872" cy="118872"/>
          </a:xfrm>
          <a:prstGeom prst="ellipse">
            <a:avLst/>
          </a:prstGeom>
          <a:solidFill>
            <a:srgbClr val="E08A1E"/>
          </a:solidFill>
          <a:ln/>
        </p:spPr>
      </p:sp>
      <p:sp>
        <p:nvSpPr>
          <p:cNvPr id="9" name="Shape 7"/>
          <p:cNvSpPr/>
          <p:nvPr/>
        </p:nvSpPr>
        <p:spPr>
          <a:xfrm>
            <a:off x="6487668" y="3977640"/>
            <a:ext cx="118872" cy="118872"/>
          </a:xfrm>
          <a:prstGeom prst="ellipse">
            <a:avLst/>
          </a:prstGeom>
          <a:solidFill>
            <a:srgbClr val="C23B3B"/>
          </a:solidFill>
          <a:ln/>
        </p:spPr>
      </p:sp>
      <p:sp>
        <p:nvSpPr>
          <p:cNvPr id="10" name="Shape 8"/>
          <p:cNvSpPr/>
          <p:nvPr/>
        </p:nvSpPr>
        <p:spPr>
          <a:xfrm>
            <a:off x="6798564" y="3977640"/>
            <a:ext cx="118872" cy="118872"/>
          </a:xfrm>
          <a:prstGeom prst="ellipse">
            <a:avLst/>
          </a:prstGeom>
          <a:solidFill>
            <a:srgbClr val="E0BF1E"/>
          </a:solidFill>
          <a:ln/>
        </p:spPr>
      </p:sp>
      <p:sp>
        <p:nvSpPr>
          <p:cNvPr id="11" name="Shape 9"/>
          <p:cNvSpPr/>
          <p:nvPr/>
        </p:nvSpPr>
        <p:spPr>
          <a:xfrm>
            <a:off x="7109460" y="3977640"/>
            <a:ext cx="118872" cy="118872"/>
          </a:xfrm>
          <a:prstGeom prst="ellipse">
            <a:avLst/>
          </a:prstGeom>
          <a:solidFill>
            <a:srgbClr val="7F7F7F"/>
          </a:solidFill>
          <a:ln/>
        </p:spPr>
      </p:sp>
      <p:sp>
        <p:nvSpPr>
          <p:cNvPr id="12" name="Shape 10"/>
          <p:cNvSpPr/>
          <p:nvPr/>
        </p:nvSpPr>
        <p:spPr>
          <a:xfrm>
            <a:off x="7420356" y="3977640"/>
            <a:ext cx="118872" cy="118872"/>
          </a:xfrm>
          <a:prstGeom prst="ellipse">
            <a:avLst/>
          </a:prstGeom>
          <a:solidFill>
            <a:srgbClr val="3BBFB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BACKUP</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Burrows’s Delta, one level deeper</a:t>
            </a:r>
            <a:endParaRPr lang="en-US" sz="3000" dirty="0"/>
          </a:p>
        </p:txBody>
      </p:sp>
      <p:sp>
        <p:nvSpPr>
          <p:cNvPr id="4" name="Text 2"/>
          <p:cNvSpPr/>
          <p:nvPr/>
        </p:nvSpPr>
        <p:spPr>
          <a:xfrm>
            <a:off x="914400" y="1645920"/>
            <a:ext cx="10332720" cy="4389120"/>
          </a:xfrm>
          <a:prstGeom prst="rect">
            <a:avLst/>
          </a:prstGeom>
          <a:noFill/>
          <a:ln/>
        </p:spPr>
        <p:txBody>
          <a:bodyPr wrap="square" rtlCol="0" anchor="ctr"/>
          <a:lstStyle/>
          <a:p>
            <a:pPr marL="152400" indent="-152400">
              <a:spcAft>
                <a:spcPts val="2000"/>
              </a:spcAft>
              <a:buSzPct val="100000"/>
              <a:buChar char="•"/>
            </a:pPr>
            <a:r>
              <a:rPr lang="en-US" sz="1900" dirty="0">
                <a:solidFill>
                  <a:srgbClr val="222222"/>
                </a:solidFill>
                <a:latin typeface="SF Pro Text" pitchFamily="34" charset="0"/>
                <a:ea typeface="SF Pro Text" pitchFamily="34" charset="-122"/>
                <a:cs typeface="SF Pro Text" pitchFamily="34" charset="-120"/>
              </a:rPr>
              <a:t>for each of the top-80 words: how far is each text from the corpus-average rate, in standard deviations (a z-score)?</a:t>
            </a:r>
            <a:endParaRPr lang="en-US" sz="1900" dirty="0"/>
          </a:p>
          <a:p>
            <a:pPr marL="152400" indent="-152400">
              <a:spcAft>
                <a:spcPts val="2000"/>
              </a:spcAft>
              <a:buSzPct val="100000"/>
              <a:buChar char="•"/>
            </a:pPr>
            <a:r>
              <a:rPr lang="en-US" sz="1900" dirty="0">
                <a:solidFill>
                  <a:srgbClr val="222222"/>
                </a:solidFill>
                <a:latin typeface="SF Pro Text" pitchFamily="34" charset="0"/>
                <a:ea typeface="SF Pro Text" pitchFamily="34" charset="-122"/>
                <a:cs typeface="SF Pro Text" pitchFamily="34" charset="-120"/>
              </a:rPr>
              <a:t>Delta(A, B) = the average disagreement of A and B across those words</a:t>
            </a:r>
            <a:endParaRPr lang="en-US" sz="1900" dirty="0"/>
          </a:p>
          <a:p>
            <a:pPr marL="152400" indent="-152400">
              <a:spcAft>
                <a:spcPts val="2000"/>
              </a:spcAft>
              <a:buSzPct val="100000"/>
              <a:buChar char="•"/>
            </a:pPr>
            <a:r>
              <a:rPr lang="en-US" sz="1900" dirty="0">
                <a:solidFill>
                  <a:srgbClr val="222222"/>
                </a:solidFill>
                <a:latin typeface="SF Pro Text" pitchFamily="34" charset="0"/>
                <a:ea typeface="SF Pro Text" pitchFamily="34" charset="-122"/>
                <a:cs typeface="SF Pro Text" pitchFamily="34" charset="-120"/>
              </a:rPr>
              <a:t>variants in the grid: Cosine Delta (angle instead of average); min-max and Manhattan (raw-frequency geometry)</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BACKUP</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The 111 texts and their strata</a:t>
            </a:r>
            <a:endParaRPr lang="en-US" sz="3000" dirty="0"/>
          </a:p>
        </p:txBody>
      </p:sp>
      <p:sp>
        <p:nvSpPr>
          <p:cNvPr id="4" name="Text 2"/>
          <p:cNvSpPr/>
          <p:nvPr/>
        </p:nvSpPr>
        <p:spPr>
          <a:xfrm>
            <a:off x="594360" y="1508760"/>
            <a:ext cx="2743200" cy="5212080"/>
          </a:xfrm>
          <a:prstGeom prst="rect">
            <a:avLst/>
          </a:prstGeom>
          <a:noFill/>
          <a:ln/>
        </p:spPr>
        <p:txBody>
          <a:bodyPr wrap="square" lIns="0" tIns="0" rIns="0" bIns="0" rtlCol="0" anchor="t"/>
          <a:lstStyle/>
          <a:p>
            <a:pPr indent="0" marL="0">
              <a:spcAft>
                <a:spcPts val="120"/>
              </a:spcAft>
              <a:buNone/>
            </a:pPr>
            <a:r>
              <a:rPr lang="en-US" sz="950" b="1" dirty="0">
                <a:solidFill>
                  <a:srgbClr val="1F5FA8"/>
                </a:solidFill>
                <a:latin typeface="SF Pro Text" pitchFamily="34" charset="0"/>
                <a:ea typeface="SF Pro Text" pitchFamily="34" charset="-122"/>
                <a:cs typeface="SF Pro Text" pitchFamily="34" charset="-120"/>
              </a:rPr>
              <a:t>Mahābhārata</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  MBh 1</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MBh2  MBh 2</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MBh3  MBh 3</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MBh4  MBh 4</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MBh5  MBh 5</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MBh6  MBh 6</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MBh7  MBh 7</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MBh8  MBh 8</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MBh9  MBh 9</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MBh10  MBh 10</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MBh11  MBh 11</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MBh12  MBh 12</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MBh13  MBh 13</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MBh14  MBh 14</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MBh15  MBh 15</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MBh16  MBh 16</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MBh17  MBh 17</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MBh18  MBh 18</a:t>
            </a:r>
            <a:endParaRPr lang="en-US" sz="950" dirty="0"/>
          </a:p>
          <a:p>
            <a:pPr indent="0" marL="0">
              <a:spcAft>
                <a:spcPts val="120"/>
              </a:spcAft>
              <a:buNone/>
            </a:pPr>
            <a:r>
              <a:rPr lang="en-US" sz="950" b="1" dirty="0">
                <a:solidFill>
                  <a:srgbClr val="7BA7D4"/>
                </a:solidFill>
                <a:latin typeface="SF Pro Text" pitchFamily="34" charset="0"/>
                <a:ea typeface="SF Pro Text" pitchFamily="34" charset="-122"/>
                <a:cs typeface="SF Pro Text" pitchFamily="34" charset="-120"/>
              </a:rPr>
              <a:t>Rāmāyaṇa</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R1  Rām 1</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R2  Rām 2</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R3  Rām 3</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R4  Rām 4</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R5  Rām 5</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R6  Rām 6</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R7  Rām 7</a:t>
            </a:r>
            <a:endParaRPr lang="en-US" sz="950" dirty="0"/>
          </a:p>
          <a:p>
            <a:pPr indent="0" marL="0">
              <a:spcAft>
                <a:spcPts val="120"/>
              </a:spcAft>
              <a:buNone/>
            </a:pPr>
            <a:r>
              <a:rPr lang="en-US" sz="950" b="1" dirty="0">
                <a:solidFill>
                  <a:srgbClr val="1A7A3A"/>
                </a:solidFill>
                <a:latin typeface="SF Pro Text" pitchFamily="34" charset="0"/>
                <a:ea typeface="SF Pro Text" pitchFamily="34" charset="-122"/>
                <a:cs typeface="SF Pro Text" pitchFamily="34" charset="-120"/>
              </a:rPr>
              <a:t>old purāṇic core</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Bḍ  Brahmāṇḍa</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Bḍ1  Brahmāṇḍa 1</a:t>
            </a:r>
            <a:endParaRPr lang="en-US" sz="95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Bḍ2  Brahmāṇḍa 2</a:t>
            </a:r>
            <a:endParaRPr lang="en-US" sz="950" dirty="0"/>
          </a:p>
        </p:txBody>
      </p:sp>
      <p:sp>
        <p:nvSpPr>
          <p:cNvPr id="5" name="Text 3"/>
          <p:cNvSpPr/>
          <p:nvPr/>
        </p:nvSpPr>
        <p:spPr>
          <a:xfrm>
            <a:off x="3429000" y="1508760"/>
            <a:ext cx="2743200" cy="5212080"/>
          </a:xfrm>
          <a:prstGeom prst="rect">
            <a:avLst/>
          </a:prstGeom>
          <a:noFill/>
          <a:ln/>
        </p:spPr>
        <p:txBody>
          <a:bodyPr wrap="square" lIns="0" tIns="0" rIns="0" bIns="0" rtlCol="0" anchor="t"/>
          <a:lstStyle/>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Bḍ3  Brahmāṇḍa 3</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Mā  Mārkaṇḍeya 1–93</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Mt  Matsya 1–176</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  Vāyu</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V×B  Vāyu×BḍP</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V1  Vāyu §1</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V2  Vāyu §2</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V3  Vāyu §3</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V4  Vāyu §4</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V5  Vāyu §5</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V6  Vāyu §6</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V7  Vāyu §7</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V8  Vāyu §8</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V9  Vāyu §9</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V10  Vāyu §10</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Vi  Viṣṇu</a:t>
            </a:r>
            <a:endParaRPr lang="en-US" sz="900" dirty="0"/>
          </a:p>
          <a:p>
            <a:pPr indent="0" marL="0">
              <a:spcAft>
                <a:spcPts val="120"/>
              </a:spcAft>
              <a:buNone/>
            </a:pPr>
            <a:r>
              <a:rPr lang="en-US" sz="950" b="1" dirty="0">
                <a:solidFill>
                  <a:srgbClr val="8FBF3F"/>
                </a:solidFill>
                <a:latin typeface="SF Pro Text" pitchFamily="34" charset="0"/>
                <a:ea typeface="SF Pro Text" pitchFamily="34" charset="-122"/>
                <a:cs typeface="SF Pro Text" pitchFamily="34" charset="-120"/>
              </a:rPr>
              <a:t>old Skandapurāṇa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SP  SP (old)</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SP1  SP (old) 1–31</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SP2  SP (old) Pāśupata</a:t>
            </a:r>
            <a:endParaRPr lang="en-US" sz="900" dirty="0"/>
          </a:p>
          <a:p>
            <a:pPr indent="0" marL="0">
              <a:spcAft>
                <a:spcPts val="120"/>
              </a:spcAft>
              <a:buNone/>
            </a:pPr>
            <a:r>
              <a:rPr lang="en-US" sz="950" b="1" dirty="0">
                <a:solidFill>
                  <a:srgbClr val="7A4BA8"/>
                </a:solidFill>
                <a:latin typeface="SF Pro Text" pitchFamily="34" charset="0"/>
                <a:ea typeface="SF Pro Text" pitchFamily="34" charset="-122"/>
                <a:cs typeface="SF Pro Text" pitchFamily="34" charset="-120"/>
              </a:rPr>
              <a:t>sectarian &amp; encyclopedic</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A  Agni</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Bhv  Bhaviṣya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Br  Brahma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DB  DevīBhP</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DG  Devīgītā (DBhP 7.31–40)</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Dv  Devī</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G1  Garuḍa 1</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G2  Garuḍa 2</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G3  Garuḍa 3</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K1  Kūrma 1</a:t>
            </a:r>
            <a:endParaRPr lang="en-US" sz="900" dirty="0"/>
          </a:p>
        </p:txBody>
      </p:sp>
      <p:sp>
        <p:nvSpPr>
          <p:cNvPr id="6" name="Text 4"/>
          <p:cNvSpPr/>
          <p:nvPr/>
        </p:nvSpPr>
        <p:spPr>
          <a:xfrm>
            <a:off x="6263640" y="1508760"/>
            <a:ext cx="2743200" cy="5212080"/>
          </a:xfrm>
          <a:prstGeom prst="rect">
            <a:avLst/>
          </a:prstGeom>
          <a:noFill/>
          <a:ln/>
        </p:spPr>
        <p:txBody>
          <a:bodyPr wrap="square" lIns="0" tIns="0" rIns="0" bIns="0" rtlCol="0" anchor="t"/>
          <a:lstStyle/>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K2  Kūrma 2</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Kā  Kālikā</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Kt  Karatoyā</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L1  Liṅga 1</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L2  Liṅga 2</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N1  Nārada 1</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N2  Nārada 2</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Nī  Nīlamata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Nṛ  Nṛsiṃha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Pd  Padma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RvV  Revākh. (Vāyu)</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Sau  Saura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Sr  Saromāhātmya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Vd  Viṣṇudharma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Vm  Vāmana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Vt  ViDhUt (exc.)</a:t>
            </a:r>
            <a:endParaRPr lang="en-US" sz="900" dirty="0"/>
          </a:p>
          <a:p>
            <a:pPr indent="0" marL="0">
              <a:spcAft>
                <a:spcPts val="120"/>
              </a:spcAft>
              <a:buNone/>
            </a:pPr>
            <a:r>
              <a:rPr lang="en-US" sz="950" b="1" dirty="0">
                <a:solidFill>
                  <a:srgbClr val="E08A1E"/>
                </a:solidFill>
                <a:latin typeface="SF Pro Text" pitchFamily="34" charset="0"/>
                <a:ea typeface="SF Pro Text" pitchFamily="34" charset="-122"/>
                <a:cs typeface="SF Pro Text" pitchFamily="34" charset="-120"/>
              </a:rPr>
              <a:t>Śivapurāṇa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Dh  ŚiP Dharma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Kv  ŚiP Kārvaṇa māh.</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Ru  ŚiP Rudra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Sn  ŚiP Sanatkumāra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Śt  ŚiP Śatarudra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U  ŚiP Umā</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Vā  ŚiP Vāyavīya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Vy  ŚiP Vidyeśvara</a:t>
            </a:r>
            <a:endParaRPr lang="en-US" sz="900" dirty="0"/>
          </a:p>
          <a:p>
            <a:pPr indent="0" marL="0">
              <a:spcAft>
                <a:spcPts val="120"/>
              </a:spcAft>
              <a:buNone/>
            </a:pPr>
            <a:r>
              <a:rPr lang="en-US" sz="950" b="1" dirty="0">
                <a:solidFill>
                  <a:srgbClr val="C23B3B"/>
                </a:solidFill>
                <a:latin typeface="SF Pro Text" pitchFamily="34" charset="0"/>
                <a:ea typeface="SF Pro Text" pitchFamily="34" charset="-122"/>
                <a:cs typeface="SF Pro Text" pitchFamily="34" charset="-120"/>
              </a:rPr>
              <a:t>Bhāgavata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Bh1  BhP 1</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Bh2  BhP 2</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Bh3  BhP 3</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Bh4  BhP 4</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Bh5  BhP 5</a:t>
            </a:r>
            <a:endParaRPr lang="en-US" sz="900" dirty="0"/>
          </a:p>
        </p:txBody>
      </p:sp>
      <p:sp>
        <p:nvSpPr>
          <p:cNvPr id="7" name="Text 5"/>
          <p:cNvSpPr/>
          <p:nvPr/>
        </p:nvSpPr>
        <p:spPr>
          <a:xfrm>
            <a:off x="9098280" y="1508760"/>
            <a:ext cx="2743200" cy="5212080"/>
          </a:xfrm>
          <a:prstGeom prst="rect">
            <a:avLst/>
          </a:prstGeom>
          <a:noFill/>
          <a:ln/>
        </p:spPr>
        <p:txBody>
          <a:bodyPr wrap="square" lIns="0" tIns="0" rIns="0" bIns="0" rtlCol="0" anchor="t"/>
          <a:lstStyle/>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Bh6  BhP 6</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Bh7  BhP 7</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Bh8  BhP 8</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Bh9  BhP 9</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Bh10  BhP 10</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Bh11  BhP 11</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Bh12  BhP 12</a:t>
            </a:r>
            <a:endParaRPr lang="en-US" sz="900" dirty="0"/>
          </a:p>
          <a:p>
            <a:pPr indent="0" marL="0">
              <a:spcAft>
                <a:spcPts val="120"/>
              </a:spcAft>
              <a:buNone/>
            </a:pPr>
            <a:r>
              <a:rPr lang="en-US" sz="950" b="1" dirty="0">
                <a:solidFill>
                  <a:srgbClr val="E0BF1E"/>
                </a:solidFill>
                <a:latin typeface="SF Pro Text" pitchFamily="34" charset="0"/>
                <a:ea typeface="SF Pro Text" pitchFamily="34" charset="-122"/>
                <a:cs typeface="SF Pro Text" pitchFamily="34" charset="-120"/>
              </a:rPr>
              <a:t>BhP with commentary</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Bh10c  BhP 10 + comm.</a:t>
            </a:r>
            <a:endParaRPr lang="en-US" sz="900" dirty="0"/>
          </a:p>
          <a:p>
            <a:pPr indent="0" marL="0">
              <a:spcAft>
                <a:spcPts val="120"/>
              </a:spcAft>
              <a:buNone/>
            </a:pPr>
            <a:r>
              <a:rPr lang="en-US" sz="950" b="1" dirty="0">
                <a:solidFill>
                  <a:srgbClr val="7F7F7F"/>
                </a:solidFill>
                <a:latin typeface="SF Pro Text" pitchFamily="34" charset="0"/>
                <a:ea typeface="SF Pro Text" pitchFamily="34" charset="-122"/>
                <a:cs typeface="SF Pro Text" pitchFamily="34" charset="-120"/>
              </a:rPr>
              <a:t>Śāstra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Pk  Praṇavakalpa</a:t>
            </a:r>
            <a:endParaRPr lang="en-US" sz="900" dirty="0"/>
          </a:p>
          <a:p>
            <a:pPr indent="0" marL="0">
              <a:spcAft>
                <a:spcPts val="120"/>
              </a:spcAft>
              <a:buNone/>
            </a:pPr>
            <a:r>
              <a:rPr lang="en-US" sz="950" b="1" dirty="0">
                <a:solidFill>
                  <a:srgbClr val="3BBFBF"/>
                </a:solidFill>
                <a:latin typeface="SF Pro Text" pitchFamily="34" charset="0"/>
                <a:ea typeface="SF Pro Text" pitchFamily="34" charset="-122"/>
                <a:cs typeface="SF Pro Text" pitchFamily="34" charset="-120"/>
              </a:rPr>
              <a:t>Skāndamahāpurāṇa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Hm  Himavatkh. (SkMP)</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Kś  Kāśīkh. (SkMP)</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Rv  Revākh. (SkMP)</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Sū  Sūtasaṃhitā 4</a:t>
            </a:r>
            <a:endParaRPr lang="en-US" sz="900" dirty="0"/>
          </a:p>
          <a:p>
            <a:pPr indent="0" marL="0">
              <a:spcAft>
                <a:spcPts val="120"/>
              </a:spcAft>
              <a:buNone/>
            </a:pPr>
            <a:r>
              <a:rPr lang="en-US" sz="950" b="1" dirty="0">
                <a:solidFill>
                  <a:srgbClr val="000000"/>
                </a:solidFill>
                <a:latin typeface="SF Pro Text" pitchFamily="34" charset="0"/>
                <a:ea typeface="SF Pro Text" pitchFamily="34" charset="-122"/>
                <a:cs typeface="SF Pro Text" pitchFamily="34" charset="-120"/>
              </a:rPr>
              <a:t>epic Appendix I</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HA29  HV App. 29–30 (Mathurā)</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HA31  HV App. 31</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HA41  HV App. 41</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HA42  HV App. 42 (prādurbh.)</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MA2  MBh 2 App. 21 (Śiśupāla)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MA7  MBh 7 App. 8 (Ṣoḍaśarājika)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MA12  MBh 12 App. 29 (Mokṣadh.)</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MA13  MBh 13 App. 15 (Umāmah.)</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MA14  MBh 14 App. 4 (Vaiṣṇavadh.)</a:t>
            </a:r>
            <a:endParaRPr lang="en-US" sz="900" dirty="0"/>
          </a:p>
          <a:p>
            <a:pPr indent="0" marL="0">
              <a:spcAft>
                <a:spcPts val="120"/>
              </a:spcAft>
              <a:buNone/>
            </a:pPr>
            <a:r>
              <a:rPr lang="en-US" sz="950" b="1" dirty="0">
                <a:solidFill>
                  <a:srgbClr val="000000"/>
                </a:solidFill>
                <a:latin typeface="SF Pro Text" pitchFamily="34" charset="0"/>
                <a:ea typeface="SF Pro Text" pitchFamily="34" charset="-122"/>
                <a:cs typeface="SF Pro Text" pitchFamily="34" charset="-120"/>
              </a:rPr>
              <a:t>Harivaṃśa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HV  Harivaṃśa</a:t>
            </a:r>
            <a:endParaRPr lang="en-US" sz="900" dirty="0"/>
          </a:p>
          <a:p>
            <a:pPr indent="0" marL="0">
              <a:spcAft>
                <a:spcPts val="120"/>
              </a:spcAft>
              <a:buNone/>
            </a:pPr>
            <a:r>
              <a:rPr lang="en-US" sz="950" b="1" dirty="0">
                <a:solidFill>
                  <a:srgbClr val="000000"/>
                </a:solidFill>
                <a:latin typeface="SF Pro Text" pitchFamily="34" charset="0"/>
                <a:ea typeface="SF Pro Text" pitchFamily="34" charset="-122"/>
                <a:cs typeface="SF Pro Text" pitchFamily="34" charset="-120"/>
              </a:rPr>
              <a:t>Śivadharma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ŚDh  Śivadharmaśāstra</a:t>
            </a:r>
            <a:endParaRPr lang="en-US" sz="900" dirty="0"/>
          </a:p>
          <a:p>
            <a:pPr indent="0" marL="0">
              <a:spcAft>
                <a:spcPts val="120"/>
              </a:spcAft>
              <a:buNone/>
            </a:pPr>
            <a:r>
              <a:rPr lang="en-US" sz="900" dirty="0">
                <a:solidFill>
                  <a:srgbClr val="222222"/>
                </a:solidFill>
                <a:latin typeface="SF Pro Text" pitchFamily="34" charset="0"/>
                <a:ea typeface="SF Pro Text" pitchFamily="34" charset="-122"/>
                <a:cs typeface="SF Pro Text" pitchFamily="34" charset="-120"/>
              </a:rPr>
              <a:t>ŚDhU  Śivadharmottara</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BACKUP</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The length caveat</a:t>
            </a:r>
            <a:endParaRPr lang="en-US" sz="3000" dirty="0"/>
          </a:p>
        </p:txBody>
      </p:sp>
      <p:sp>
        <p:nvSpPr>
          <p:cNvPr id="4" name="Text 2"/>
          <p:cNvSpPr/>
          <p:nvPr/>
        </p:nvSpPr>
        <p:spPr>
          <a:xfrm>
            <a:off x="914400" y="1645920"/>
            <a:ext cx="10332720" cy="4389120"/>
          </a:xfrm>
          <a:prstGeom prst="rect">
            <a:avLst/>
          </a:prstGeom>
          <a:noFill/>
          <a:ln/>
        </p:spPr>
        <p:txBody>
          <a:bodyPr wrap="square" rtlCol="0" anchor="ctr"/>
          <a:lstStyle/>
          <a:p>
            <a:pPr marL="152400" indent="-152400">
              <a:spcAft>
                <a:spcPts val="2000"/>
              </a:spcAft>
              <a:buSzPct val="100000"/>
              <a:buChar char="•"/>
            </a:pPr>
            <a:r>
              <a:rPr lang="en-US" sz="1900" dirty="0">
                <a:solidFill>
                  <a:srgbClr val="222222"/>
                </a:solidFill>
                <a:latin typeface="SF Pro Text" pitchFamily="34" charset="0"/>
                <a:ea typeface="SF Pro Text" pitchFamily="34" charset="-122"/>
                <a:cs typeface="SF Pro Text" pitchFamily="34" charset="-120"/>
              </a:rPr>
              <a:t>sections range from a few thousand to hundreds of thousands of words</a:t>
            </a:r>
            <a:endParaRPr lang="en-US" sz="1900" dirty="0"/>
          </a:p>
          <a:p>
            <a:pPr marL="152400" indent="-152400">
              <a:spcAft>
                <a:spcPts val="2000"/>
              </a:spcAft>
              <a:buSzPct val="100000"/>
              <a:buChar char="•"/>
            </a:pPr>
            <a:r>
              <a:rPr lang="en-US" sz="1900" dirty="0">
                <a:solidFill>
                  <a:srgbClr val="222222"/>
                </a:solidFill>
                <a:latin typeface="SF Pro Text" pitchFamily="34" charset="0"/>
                <a:ea typeface="SF Pro Text" pitchFamily="34" charset="-122"/>
                <a:cs typeface="SF Pro Text" pitchFamily="34" charset="-120"/>
              </a:rPr>
              <a:t>sub-5k-word fragments have noisy profiles → inflated distances, unreliable positions</a:t>
            </a:r>
            <a:endParaRPr lang="en-US" sz="1900" dirty="0"/>
          </a:p>
          <a:p>
            <a:pPr marL="152400" indent="-152400">
              <a:spcAft>
                <a:spcPts val="2000"/>
              </a:spcAft>
              <a:buSzPct val="100000"/>
              <a:buChar char="•"/>
            </a:pPr>
            <a:r>
              <a:rPr lang="en-US" sz="1900" dirty="0">
                <a:solidFill>
                  <a:srgbClr val="222222"/>
                </a:solidFill>
                <a:latin typeface="SF Pro Text" pitchFamily="34" charset="0"/>
                <a:ea typeface="SF Pro Text" pitchFamily="34" charset="-122"/>
                <a:cs typeface="SF Pro Text" pitchFamily="34" charset="-120"/>
              </a:rPr>
              <a:t>marked as small dots on every map; none of the argument rests on them</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92608"/>
          </a:xfrm>
          <a:prstGeom prst="rect">
            <a:avLst/>
          </a:prstGeom>
          <a:noFill/>
          <a:ln/>
        </p:spPr>
        <p:txBody>
          <a:bodyPr wrap="square" lIns="0" tIns="0" rIns="0" bIns="0" rtlCol="0" anchor="ctr"/>
          <a:lstStyle/>
          <a:p>
            <a:pPr indent="0" marL="0">
              <a:buNone/>
            </a:pPr>
            <a:r>
              <a:rPr lang="en-US" sz="1200" b="1" spc="300" kern="0" dirty="0">
                <a:solidFill>
                  <a:srgbClr val="1F5FA8"/>
                </a:solidFill>
                <a:latin typeface="SF Pro Text" pitchFamily="34" charset="0"/>
                <a:ea typeface="SF Pro Text" pitchFamily="34" charset="-122"/>
                <a:cs typeface="SF Pro Text" pitchFamily="34" charset="-120"/>
              </a:rPr>
              <a:t>BACKUP</a:t>
            </a:r>
            <a:endParaRPr lang="en-US" sz="1200" dirty="0"/>
          </a:p>
        </p:txBody>
      </p:sp>
      <p:sp>
        <p:nvSpPr>
          <p:cNvPr id="3" name="Text 1"/>
          <p:cNvSpPr/>
          <p:nvPr/>
        </p:nvSpPr>
        <p:spPr>
          <a:xfrm>
            <a:off x="548640" y="566928"/>
            <a:ext cx="11064240" cy="822960"/>
          </a:xfrm>
          <a:prstGeom prst="rect">
            <a:avLst/>
          </a:prstGeom>
          <a:noFill/>
          <a:ln/>
        </p:spPr>
        <p:txBody>
          <a:bodyPr wrap="square" lIns="0" tIns="0" rIns="0" bIns="0" rtlCol="0" anchor="t"/>
          <a:lstStyle/>
          <a:p>
            <a:pPr indent="0" marL="0">
              <a:buNone/>
            </a:pPr>
            <a:r>
              <a:rPr lang="en-US" sz="3000" b="1" dirty="0">
                <a:solidFill>
                  <a:srgbClr val="222222"/>
                </a:solidFill>
                <a:latin typeface="SF Pro Display" pitchFamily="34" charset="0"/>
                <a:ea typeface="SF Pro Display" pitchFamily="34" charset="-122"/>
                <a:cs typeface="SF Pro Display" pitchFamily="34" charset="-120"/>
              </a:rPr>
              <a:t>When the lenses disagree — a diagnostic, not a failure</a:t>
            </a:r>
            <a:endParaRPr lang="en-US" sz="3000" dirty="0"/>
          </a:p>
        </p:txBody>
      </p:sp>
      <p:sp>
        <p:nvSpPr>
          <p:cNvPr id="4" name="Text 2"/>
          <p:cNvSpPr/>
          <p:nvPr/>
        </p:nvSpPr>
        <p:spPr>
          <a:xfrm>
            <a:off x="914400" y="1691640"/>
            <a:ext cx="10332720" cy="457200"/>
          </a:xfrm>
          <a:prstGeom prst="rect">
            <a:avLst/>
          </a:prstGeom>
          <a:noFill/>
          <a:ln/>
        </p:spPr>
        <p:txBody>
          <a:bodyPr wrap="square" lIns="0" tIns="0" rIns="0" bIns="0" rtlCol="0" anchor="ctr"/>
          <a:lstStyle/>
          <a:p>
            <a:pPr indent="0" marL="0">
              <a:buNone/>
            </a:pPr>
            <a:r>
              <a:rPr lang="en-US" sz="1800" b="1" dirty="0">
                <a:solidFill>
                  <a:srgbClr val="222222"/>
                </a:solidFill>
                <a:latin typeface="SF Pro Text" pitchFamily="34" charset="0"/>
                <a:ea typeface="SF Pro Text" pitchFamily="34" charset="-122"/>
                <a:cs typeface="SF Pro Text" pitchFamily="34" charset="-120"/>
              </a:rPr>
              <a:t>BhP 10.29–33 transmitted with commentary (Bh10c on the maps):</a:t>
            </a:r>
            <a:endParaRPr lang="en-US" sz="1800" dirty="0"/>
          </a:p>
        </p:txBody>
      </p:sp>
      <p:sp>
        <p:nvSpPr>
          <p:cNvPr id="5" name="Text 3"/>
          <p:cNvSpPr/>
          <p:nvPr/>
        </p:nvSpPr>
        <p:spPr>
          <a:xfrm>
            <a:off x="914400" y="2240280"/>
            <a:ext cx="10332720" cy="1828800"/>
          </a:xfrm>
          <a:prstGeom prst="rect">
            <a:avLst/>
          </a:prstGeom>
          <a:noFill/>
          <a:ln/>
        </p:spPr>
        <p:txBody>
          <a:bodyPr wrap="square" rtlCol="0" anchor="ctr"/>
          <a:lstStyle/>
          <a:p>
            <a:pPr marL="152400" indent="-152400">
              <a:spcAft>
                <a:spcPts val="1400"/>
              </a:spcAft>
              <a:buSzPct val="100000"/>
              <a:buChar char="•"/>
            </a:pPr>
            <a:r>
              <a:rPr lang="en-US" sz="1800" dirty="0">
                <a:solidFill>
                  <a:srgbClr val="222222"/>
                </a:solidFill>
                <a:latin typeface="SF Pro Text" pitchFamily="34" charset="0"/>
                <a:ea typeface="SF Pro Text" pitchFamily="34" charset="-122"/>
                <a:cs typeface="SF Pro Text" pitchFamily="34" charset="-120"/>
              </a:rPr>
              <a:t>word lens: nearest neighbour = Kāśīkhaṇḍa — expelled from the Bhāgavata cluster (commentary vocabulary contaminates word counts)</a:t>
            </a:r>
            <a:endParaRPr lang="en-US" sz="1800" dirty="0"/>
          </a:p>
          <a:p>
            <a:pPr marL="152400" indent="-152400">
              <a:spcAft>
                <a:spcPts val="1400"/>
              </a:spcAft>
              <a:buSzPct val="100000"/>
              <a:buChar char="•"/>
            </a:pPr>
            <a:r>
              <a:rPr lang="en-US" sz="1800" dirty="0">
                <a:solidFill>
                  <a:srgbClr val="222222"/>
                </a:solidFill>
                <a:latin typeface="SF Pro Text" pitchFamily="34" charset="0"/>
                <a:ea typeface="SF Pro Text" pitchFamily="34" charset="-122"/>
                <a:cs typeface="SF Pro Text" pitchFamily="34" charset="-120"/>
              </a:rPr>
              <a:t>3-gram lens: nearest neighbour = BhP 10 — back inside the family</a:t>
            </a:r>
            <a:endParaRPr lang="en-US" sz="1800" dirty="0"/>
          </a:p>
        </p:txBody>
      </p:sp>
      <p:sp>
        <p:nvSpPr>
          <p:cNvPr id="6" name="Text 4"/>
          <p:cNvSpPr/>
          <p:nvPr/>
        </p:nvSpPr>
        <p:spPr>
          <a:xfrm>
            <a:off x="914400" y="4846320"/>
            <a:ext cx="10332720" cy="822960"/>
          </a:xfrm>
          <a:prstGeom prst="rect">
            <a:avLst/>
          </a:prstGeom>
          <a:noFill/>
          <a:ln/>
        </p:spPr>
        <p:txBody>
          <a:bodyPr wrap="square" rtlCol="0" anchor="ctr"/>
          <a:lstStyle/>
          <a:p>
            <a:pPr algn="ctr" indent="0" marL="0">
              <a:buNone/>
            </a:pPr>
            <a:r>
              <a:rPr lang="en-US" sz="2100" b="1" dirty="0">
                <a:solidFill>
                  <a:srgbClr val="1F5FA8"/>
                </a:solidFill>
                <a:latin typeface="SF Pro Display" pitchFamily="34" charset="0"/>
                <a:ea typeface="SF Pro Display" pitchFamily="34" charset="-122"/>
                <a:cs typeface="SF Pro Display" pitchFamily="34" charset="-120"/>
              </a:rPr>
              <a:t>Lens disagreement flags preprocessing problems — it does not hide them.</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consensus_tree.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closing_parvans_length.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bhp_skandha_mfw.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reuse_overlay_MDS.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bhavisya_reuse_strip.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Users/kengo_1/Desktop/stylometric_works/materials/presentation_2026/figures/hero_W1_delta_MDS.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Chronological Stratification in the Epics and Purāṇas</dc:title>
  <dc:subject>PptxGenJS Presentation</dc:subject>
  <dc:creator>Kengo Harimoto</dc:creator>
  <cp:lastModifiedBy>Kengo Harimoto</cp:lastModifiedBy>
  <cp:revision>1</cp:revision>
  <dcterms:created xsi:type="dcterms:W3CDTF">2026-07-25T04:27:29Z</dcterms:created>
  <dcterms:modified xsi:type="dcterms:W3CDTF">2026-07-25T04:27:29Z</dcterms:modified>
</cp:coreProperties>
</file>