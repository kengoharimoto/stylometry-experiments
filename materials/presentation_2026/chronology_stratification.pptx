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Thirty seconds; straight into the picture.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audience find their texts. Epics left, old purāṇic core upper middle, sectarian digests right, Bhāgavata below. One color = one stratum of the RECEIVED chronology, not of the computation.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coloring is the only place received scholarship touches the plot; the geometry is blind.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Roadmap: first how the map is made, then a guided tour, then the robustness case, then honest caveats.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 on e-text provenance; don't linger.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features are ca, tu, eva, na, sa, tathā — grammatical glue, not content. Nobody composes with their rate of 'tu' in mind. Right: the old purāṇic core uses tu/eva/tathā/vai 2–4× as often as the epic core; the Bhāgavata suppresses all four. These boring words carry the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formulas: 'an average of disagreements in word habits, in units of what is normal for this corpus.' Table rows preview later tour stops.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 now, cash in at Act 4: any segmentation-pipeline artifact could only touch Lens 1; any orthographic/sandhi artifact only Lens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Mileage-chart analogy: given only road distances between cities you can redraw the map of India. MDS does exactly that with stylistic distances. The opening map is this with the full 101×101 table. Axes mean nothing by themselves; only nearness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machine has read no Hopkins and no Brockington, yet finds the didactic parvans late and the frame kāṇḍas apart from the core. Precision for Q&amp;A: Bāla↔Uttara mutual in the word lens; in the 3-gram lens Bāla's NN is Uttara, Uttara's is MBh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Kirfel (1927) predicted this cluster a century ago; the counting confirms it without being told. The Vāyu∩Brahmāṇḍa common-material extract (V×B) sits closest of all to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texts quote everything and everyone; their 'style' is the style of the digest.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compilation model of the ŚiP, confirmed from word counts alone; contrast set up deliberately.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BhP tries to sound ancient — and fools no counter of particles. Its position (below, not left) shows the second axis at work: it is UNLIKE everything, not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grid: top row words/unsandhied, bottom row 3-grams/sandhied, three distance metrics each — six independent pipelines, one geometry. Layout agreement with the opening map: 0.95–0.96 (words), 0.82–0.89 (3-grams). The epic→purāṇic axis survives every change of lens.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abstract's core argument; deliver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Promised in the abstract; agnosticism as a feature, not a weakness. The Bhāgavata's vertical displacement is the clearest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Drift, metre, borrowing and genre are entangled in the texts themselves; the axis is real but not purely temporal.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 the method modestly; invite collaboration on specific text-historical problems.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where we began — now everyone can read the map. Thanks; over to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about pipeline trust: same story with the Nīlamata, where a raw-cosine outlier exposed an editorially dissolved source (2026-07-09).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Alternative, non-spatial view of the same distances.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554480"/>
            <a:ext cx="10332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Chronological Stratification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Epics and Purāṇas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33832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 from Stylometric Seriation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622292" y="4343400"/>
            <a:ext cx="118872" cy="118872"/>
          </a:xfrm>
          <a:prstGeom prst="ellipse">
            <a:avLst/>
          </a:prstGeom>
          <a:solidFill>
            <a:srgbClr val="1F5FA8"/>
          </a:solidFill>
          <a:ln/>
        </p:spPr>
      </p:sp>
      <p:sp>
        <p:nvSpPr>
          <p:cNvPr id="5" name="Shape 3"/>
          <p:cNvSpPr/>
          <p:nvPr/>
        </p:nvSpPr>
        <p:spPr>
          <a:xfrm>
            <a:off x="4933188" y="4343400"/>
            <a:ext cx="118872" cy="118872"/>
          </a:xfrm>
          <a:prstGeom prst="ellipse">
            <a:avLst/>
          </a:prstGeom>
          <a:solidFill>
            <a:srgbClr val="7BA7D4"/>
          </a:solidFill>
          <a:ln/>
        </p:spPr>
      </p:sp>
      <p:sp>
        <p:nvSpPr>
          <p:cNvPr id="6" name="Shape 4"/>
          <p:cNvSpPr/>
          <p:nvPr/>
        </p:nvSpPr>
        <p:spPr>
          <a:xfrm>
            <a:off x="5244084" y="4343400"/>
            <a:ext cx="118872" cy="118872"/>
          </a:xfrm>
          <a:prstGeom prst="ellipse">
            <a:avLst/>
          </a:prstGeom>
          <a:solidFill>
            <a:srgbClr val="1A7A3A"/>
          </a:solidFill>
          <a:ln/>
        </p:spPr>
      </p:sp>
      <p:sp>
        <p:nvSpPr>
          <p:cNvPr id="7" name="Shape 5"/>
          <p:cNvSpPr/>
          <p:nvPr/>
        </p:nvSpPr>
        <p:spPr>
          <a:xfrm>
            <a:off x="5554980" y="4343400"/>
            <a:ext cx="118872" cy="118872"/>
          </a:xfrm>
          <a:prstGeom prst="ellipse">
            <a:avLst/>
          </a:prstGeom>
          <a:solidFill>
            <a:srgbClr val="8FBF3F"/>
          </a:solidFill>
          <a:ln/>
        </p:spPr>
      </p:sp>
      <p:sp>
        <p:nvSpPr>
          <p:cNvPr id="8" name="Shape 6"/>
          <p:cNvSpPr/>
          <p:nvPr/>
        </p:nvSpPr>
        <p:spPr>
          <a:xfrm>
            <a:off x="5865876" y="4343400"/>
            <a:ext cx="118872" cy="118872"/>
          </a:xfrm>
          <a:prstGeom prst="ellipse">
            <a:avLst/>
          </a:prstGeom>
          <a:solidFill>
            <a:srgbClr val="7A4BA8"/>
          </a:solidFill>
          <a:ln/>
        </p:spPr>
      </p:sp>
      <p:sp>
        <p:nvSpPr>
          <p:cNvPr id="9" name="Shape 7"/>
          <p:cNvSpPr/>
          <p:nvPr/>
        </p:nvSpPr>
        <p:spPr>
          <a:xfrm>
            <a:off x="6176772" y="4343400"/>
            <a:ext cx="118872" cy="118872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10" name="Shape 8"/>
          <p:cNvSpPr/>
          <p:nvPr/>
        </p:nvSpPr>
        <p:spPr>
          <a:xfrm>
            <a:off x="6487668" y="4343400"/>
            <a:ext cx="118872" cy="118872"/>
          </a:xfrm>
          <a:prstGeom prst="ellipse">
            <a:avLst/>
          </a:prstGeom>
          <a:solidFill>
            <a:srgbClr val="C23B3B"/>
          </a:solidFill>
          <a:ln/>
        </p:spPr>
      </p:sp>
      <p:sp>
        <p:nvSpPr>
          <p:cNvPr id="11" name="Shape 9"/>
          <p:cNvSpPr/>
          <p:nvPr/>
        </p:nvSpPr>
        <p:spPr>
          <a:xfrm>
            <a:off x="6798564" y="4343400"/>
            <a:ext cx="118872" cy="118872"/>
          </a:xfrm>
          <a:prstGeom prst="ellipse">
            <a:avLst/>
          </a:prstGeom>
          <a:solidFill>
            <a:srgbClr val="E0BF1E"/>
          </a:solidFill>
          <a:ln/>
        </p:spPr>
      </p:sp>
      <p:sp>
        <p:nvSpPr>
          <p:cNvPr id="12" name="Shape 10"/>
          <p:cNvSpPr/>
          <p:nvPr/>
        </p:nvSpPr>
        <p:spPr>
          <a:xfrm>
            <a:off x="7109460" y="4343400"/>
            <a:ext cx="118872" cy="11887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3" name="Shape 11"/>
          <p:cNvSpPr/>
          <p:nvPr/>
        </p:nvSpPr>
        <p:spPr>
          <a:xfrm>
            <a:off x="7420356" y="4343400"/>
            <a:ext cx="118872" cy="118872"/>
          </a:xfrm>
          <a:prstGeom prst="ellipse">
            <a:avLst/>
          </a:prstGeom>
          <a:solidFill>
            <a:srgbClr val="3BBFBF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8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Kengo Harimoto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D8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[venue · date]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engo_1/Desktop/stylometric_works/materials/presentation_2026/figures/hero_W1_delta_M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map was drawn by counting linguistic habits — nothing else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2121408"/>
            <a:ext cx="256032" cy="256032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5" name="Text 3"/>
          <p:cNvSpPr/>
          <p:nvPr/>
        </p:nvSpPr>
        <p:spPr>
          <a:xfrm>
            <a:off x="1417320" y="201168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417320" y="2395728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entered the computation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2990088"/>
            <a:ext cx="256032" cy="256032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288036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chronology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417320" y="3264408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entered the computation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3858768"/>
            <a:ext cx="256032" cy="256032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374904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philological judgment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417320" y="4133088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entered the computation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0" y="22860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555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colors were painted on afterwards.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22960" y="52120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5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Yet the familiar relative chronology reads left to right.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questions worth thirty minutes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" y="2194560"/>
            <a:ext cx="777240" cy="777240"/>
          </a:xfrm>
          <a:prstGeom prst="ellipse">
            <a:avLst/>
          </a:prstGeom>
          <a:solidFill>
            <a:srgbClr val="1F5FA8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1945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240280" y="2084832"/>
            <a:ext cx="8778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exactly was counted?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097280" y="3931920"/>
            <a:ext cx="777240" cy="777240"/>
          </a:xfrm>
          <a:prstGeom prst="ellipse">
            <a:avLst/>
          </a:prstGeom>
          <a:solidFill>
            <a:srgbClr val="1F5FA8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931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40280" y="3822192"/>
            <a:ext cx="8778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the left–right axis be trusted —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is it an artifact of one method?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MAP WAS MADE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corpus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F5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 and sections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26280" y="173736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F5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4.6 M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4526280" y="274320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words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0" y="173736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F5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 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8229600" y="274320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versions: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sandhied · unsandhied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63040" y="379476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Mahābhārata by parvan (18)  ·  Rāmāyaṇa by kāṇḍa (7)</a:t>
            </a:r>
            <a:endParaRPr lang="en-US" sz="17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purāṇas whole, or by khaṇḍa / saṃhitā where transmission demands it</a:t>
            </a:r>
            <a:endParaRPr lang="en-US" sz="17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machine-readable editions, cleaned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63040" y="539496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 kept in view: sections differ enormously in length; short fragments are marked with smaller dots on every map.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engo_1/Desktop/stylometric_works/materials/presentation_2026/figures/mfw_habi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MAP WAS MADE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counts to distances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56692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pair of texts: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differently do they use their most common words?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endParaRPr lang="en-US" sz="17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habits  →  small number</a:t>
            </a:r>
            <a:endParaRPr lang="en-US" sz="17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habits  →  large number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a 101 × 101 table of stylistic distances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(Burrows’s Delta — stylometry’s standard workhorse since 2002)</a:t>
            </a:r>
            <a:endParaRPr lang="en-US" sz="1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2286000"/>
          <a:ext cx="46634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MBh 7 (Droṇa)  ↔  MBh 8 (Karṇa)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Vāyu  ↔  Brahmāṇḍa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pair in this corpus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Rām 2 (Ayodhyā)  ↔  Agni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MAP WAS MADE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corpus, measured twice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88720" y="2011680"/>
          <a:ext cx="97840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206240"/>
                <a:gridCol w="42062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Lens 1 — words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Lens 2 — letter groups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A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80 most frequent words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5,000 most frequent 3-letter sequences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sandhi dissolved (segmented)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sandhied text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particles, pronouns, vocabulary habits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morphology, phonology, sandhi habits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" y="5303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Nearly orthogonal measurements — almost no shared failure modes.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engo_1/Desktop/stylometric_works/materials/presentation_2026/figures/mds_explai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MAP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12064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epic zone</a:t>
            </a:r>
            <a:endParaRPr lang="en-US" sz="2400" dirty="0"/>
          </a:p>
        </p:txBody>
      </p:sp>
      <p:pic>
        <p:nvPicPr>
          <p:cNvPr id="4" name="Image 0" descr="/Users/kengo_1/Desktop/stylometric_works/materials/presentation_2026/figures/hero_W1_delta_MDS_hl-ep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400" y="1097280"/>
            <a:ext cx="10238720" cy="5760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4590288"/>
            <a:ext cx="3246120" cy="1920240"/>
          </a:xfrm>
          <a:prstGeom prst="rect">
            <a:avLst/>
          </a:prstGeom>
          <a:solidFill>
            <a:srgbClr val="FFFFFF">
              <a:alpha val="95000"/>
            </a:srgbClr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4590288"/>
            <a:ext cx="3246120" cy="19202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 books MBh 6–9 tight; Droṇa ↔ Karṇa the tightest pair (0.28 ≈ ¼ of typical)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 12–13: mutual nearest neighbours — drifted toward purāṇa-space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Rām 2–6 hold together; Bāla’s nearest neighbour is the Uttara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criticism, recovered blind.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MAP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12064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old purāṇic core</a:t>
            </a:r>
            <a:endParaRPr lang="en-US" sz="2400" dirty="0"/>
          </a:p>
        </p:txBody>
      </p:sp>
      <p:pic>
        <p:nvPicPr>
          <p:cNvPr id="4" name="Image 0" descr="/Users/kengo_1/Desktop/stylometric_works/materials/presentation_2026/figures/hero_W1_delta_MDS_hl-old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400" y="1097280"/>
            <a:ext cx="10238720" cy="5760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4590288"/>
            <a:ext cx="3246120" cy="1920240"/>
          </a:xfrm>
          <a:prstGeom prst="rect">
            <a:avLst/>
          </a:prstGeom>
          <a:solidFill>
            <a:srgbClr val="FFFFFF">
              <a:alpha val="95000"/>
            </a:srgbClr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4590288"/>
            <a:ext cx="3246120" cy="19202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Vāyu ↔ Brahmāṇḍa: 0.29 — Kirfel’s Vāyuproktaṃ Purāṇam, as a number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Viṣṇu ↔ Mārkaṇḍeya: mutual nearest neighbours, in both lenses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Matsya’s cosmogonic chapters sit with them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MAP ·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12064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late sectarian–encyclopedic zone</a:t>
            </a:r>
            <a:endParaRPr lang="en-US" sz="2400" dirty="0"/>
          </a:p>
        </p:txBody>
      </p:sp>
      <p:pic>
        <p:nvPicPr>
          <p:cNvPr id="4" name="Image 0" descr="/Users/kengo_1/Desktop/stylometric_works/materials/presentation_2026/figures/hero_W1_delta_MDS_hl-l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400" y="1097280"/>
            <a:ext cx="10238720" cy="5760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4590288"/>
            <a:ext cx="3246120" cy="1920240"/>
          </a:xfrm>
          <a:prstGeom prst="rect">
            <a:avLst/>
          </a:prstGeom>
          <a:solidFill>
            <a:srgbClr val="FFFFFF">
              <a:alpha val="95000"/>
            </a:srgbClr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4590288"/>
            <a:ext cx="3246120" cy="19202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Agni · Garuḍa · Nārada: the digest purāṇas, far right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māhātmyas and khaṇḍas (Kāśī, Revā, Himavat) join them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crowded and internally blurry — exactly what compilation literature should look like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MAP ·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12064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purāṇa that refuses to unify</a:t>
            </a:r>
            <a:endParaRPr lang="en-US" sz="2400" dirty="0"/>
          </a:p>
        </p:txBody>
      </p:sp>
      <p:pic>
        <p:nvPicPr>
          <p:cNvPr id="4" name="Image 0" descr="/Users/kengo_1/Desktop/stylometric_works/materials/presentation_2026/figures/hero_W1_delta_MDS_hl-s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400" y="1097280"/>
            <a:ext cx="10238720" cy="5760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4590288"/>
            <a:ext cx="3246120" cy="1920240"/>
          </a:xfrm>
          <a:prstGeom prst="rect">
            <a:avLst/>
          </a:prstGeom>
          <a:solidFill>
            <a:srgbClr val="FFFFFF">
              <a:alpha val="95000"/>
            </a:srgbClr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4590288"/>
            <a:ext cx="3246120" cy="19202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Śivapurāṇa’s saṃhitās scatter across the late zone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nearest neighbours: only 3 of 8 (words), 4 of 8 (3-grams)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Cohesion is measurable — compare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MAP ·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12064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Bhāgavata</a:t>
            </a:r>
            <a:endParaRPr lang="en-US" sz="2400" dirty="0"/>
          </a:p>
        </p:txBody>
      </p:sp>
      <p:pic>
        <p:nvPicPr>
          <p:cNvPr id="4" name="Image 0" descr="/Users/kengo_1/Desktop/stylometric_works/materials/presentation_2026/figures/hero_W1_delta_MDS_hl-bh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400" y="1097280"/>
            <a:ext cx="10238720" cy="5760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4590288"/>
            <a:ext cx="3246120" cy="1920240"/>
          </a:xfrm>
          <a:prstGeom prst="rect">
            <a:avLst/>
          </a:prstGeom>
          <a:solidFill>
            <a:srgbClr val="FFFFFF">
              <a:alpha val="95000"/>
            </a:srgbClr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4590288"/>
            <a:ext cx="3246120" cy="19202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twelve skandhas’ nearest neighbours are internal — in both lenses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stylistic island, despite deliberately archaizing Sanskrit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Archaism is a costume; habit is a fingerprint.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engo_1/Desktop/stylometric_works/materials/presentation_2026/figures/robustness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BELIEVE THE AXIS?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Suppose the axis were an artifact…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flaw in sandhi segmentation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577840" y="1828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309360" y="18288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distort the word lens only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orthographic / sandhi convention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77840" y="26974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309360" y="269748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distort the 3-gram lens only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35661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quirk of one distance formula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577840" y="3566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309360" y="35661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to explain the other five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46634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lenses share almost no assumptions — yet draw the same axis.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960" y="53035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5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signal is in the texts.</a:t>
            </a:r>
            <a:endParaRPr lang="en-US" sz="3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BELIEVE THE AXIS?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second axis is not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424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vertical axis is unstable across configurations.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Depending on features and metric it separates by something like genre, region, or sectarian register — no labeling survives all six panels.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4572000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5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conclusion:  </a:t>
            </a:r>
            <a:pPr algn="ctr" indent="0" marL="0">
              <a:buNone/>
            </a:pPr>
            <a:r>
              <a:rPr lang="en-US" sz="2200" dirty="0">
                <a:solidFill>
                  <a:srgbClr val="1F5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axis is chronology-like and robust; the second resists a stable name.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axis is made of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600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“Diachronic linguistic drift” — but confounded: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14400" y="23774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5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3291840" y="23774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favourite particles are anuṣṭubh fillers; particle habits are partly versification habits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35204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5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borrowing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3291840" y="35204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tightest links ride on shared ślokas — Delta cannot tell “same school” from “copied the same 2,000 verses”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46634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5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genre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3291840" y="46634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 vs. didactic vs. digest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is — and is not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327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purāṇas have no authors  →  this is stratum and textual-family detection, not authorship attribution</a:t>
            </a:r>
            <a:endParaRPr lang="en-US" sz="2000" dirty="0"/>
          </a:p>
          <a:p>
            <a:pPr marL="152400" indent="-152400"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stylometry offers an independent, replicable check on relative chronology — a third witness beside content criteria and testimonia</a:t>
            </a:r>
            <a:endParaRPr lang="en-US" sz="2000" dirty="0"/>
          </a:p>
          <a:p>
            <a:pPr marL="152400" indent="-152400"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will not date your text; it will tell you whose company it keeps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0292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Counted habits, familiar history.</a:t>
            </a:r>
            <a:endParaRPr lang="en-US" sz="3000" dirty="0"/>
          </a:p>
        </p:txBody>
      </p:sp>
      <p:pic>
        <p:nvPicPr>
          <p:cNvPr id="3" name="Image 0" descr="/Users/kengo_1/Desktop/stylometric_works/materials/presentation_2026/figures/hero_W1_delta_M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417320"/>
            <a:ext cx="8778240" cy="493899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622292" y="6510528"/>
            <a:ext cx="118872" cy="118872"/>
          </a:xfrm>
          <a:prstGeom prst="ellipse">
            <a:avLst/>
          </a:prstGeom>
          <a:solidFill>
            <a:srgbClr val="1F5FA8"/>
          </a:solidFill>
          <a:ln/>
        </p:spPr>
      </p:sp>
      <p:sp>
        <p:nvSpPr>
          <p:cNvPr id="5" name="Shape 2"/>
          <p:cNvSpPr/>
          <p:nvPr/>
        </p:nvSpPr>
        <p:spPr>
          <a:xfrm>
            <a:off x="4933188" y="6510528"/>
            <a:ext cx="118872" cy="118872"/>
          </a:xfrm>
          <a:prstGeom prst="ellipse">
            <a:avLst/>
          </a:prstGeom>
          <a:solidFill>
            <a:srgbClr val="7BA7D4"/>
          </a:solidFill>
          <a:ln/>
        </p:spPr>
      </p:sp>
      <p:sp>
        <p:nvSpPr>
          <p:cNvPr id="6" name="Shape 3"/>
          <p:cNvSpPr/>
          <p:nvPr/>
        </p:nvSpPr>
        <p:spPr>
          <a:xfrm>
            <a:off x="5244084" y="6510528"/>
            <a:ext cx="118872" cy="118872"/>
          </a:xfrm>
          <a:prstGeom prst="ellipse">
            <a:avLst/>
          </a:prstGeom>
          <a:solidFill>
            <a:srgbClr val="1A7A3A"/>
          </a:solidFill>
          <a:ln/>
        </p:spPr>
      </p:sp>
      <p:sp>
        <p:nvSpPr>
          <p:cNvPr id="7" name="Shape 4"/>
          <p:cNvSpPr/>
          <p:nvPr/>
        </p:nvSpPr>
        <p:spPr>
          <a:xfrm>
            <a:off x="5554980" y="6510528"/>
            <a:ext cx="118872" cy="118872"/>
          </a:xfrm>
          <a:prstGeom prst="ellipse">
            <a:avLst/>
          </a:prstGeom>
          <a:solidFill>
            <a:srgbClr val="8FBF3F"/>
          </a:solidFill>
          <a:ln/>
        </p:spPr>
      </p:sp>
      <p:sp>
        <p:nvSpPr>
          <p:cNvPr id="8" name="Shape 5"/>
          <p:cNvSpPr/>
          <p:nvPr/>
        </p:nvSpPr>
        <p:spPr>
          <a:xfrm>
            <a:off x="5865876" y="6510528"/>
            <a:ext cx="118872" cy="118872"/>
          </a:xfrm>
          <a:prstGeom prst="ellipse">
            <a:avLst/>
          </a:prstGeom>
          <a:solidFill>
            <a:srgbClr val="7A4BA8"/>
          </a:solidFill>
          <a:ln/>
        </p:spPr>
      </p:sp>
      <p:sp>
        <p:nvSpPr>
          <p:cNvPr id="9" name="Shape 6"/>
          <p:cNvSpPr/>
          <p:nvPr/>
        </p:nvSpPr>
        <p:spPr>
          <a:xfrm>
            <a:off x="6176772" y="6510528"/>
            <a:ext cx="118872" cy="118872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10" name="Shape 7"/>
          <p:cNvSpPr/>
          <p:nvPr/>
        </p:nvSpPr>
        <p:spPr>
          <a:xfrm>
            <a:off x="6487668" y="6510528"/>
            <a:ext cx="118872" cy="118872"/>
          </a:xfrm>
          <a:prstGeom prst="ellipse">
            <a:avLst/>
          </a:prstGeom>
          <a:solidFill>
            <a:srgbClr val="C23B3B"/>
          </a:solidFill>
          <a:ln/>
        </p:spPr>
      </p:sp>
      <p:sp>
        <p:nvSpPr>
          <p:cNvPr id="11" name="Shape 8"/>
          <p:cNvSpPr/>
          <p:nvPr/>
        </p:nvSpPr>
        <p:spPr>
          <a:xfrm>
            <a:off x="6798564" y="6510528"/>
            <a:ext cx="118872" cy="118872"/>
          </a:xfrm>
          <a:prstGeom prst="ellipse">
            <a:avLst/>
          </a:prstGeom>
          <a:solidFill>
            <a:srgbClr val="E0BF1E"/>
          </a:solidFill>
          <a:ln/>
        </p:spPr>
      </p:sp>
      <p:sp>
        <p:nvSpPr>
          <p:cNvPr id="12" name="Shape 9"/>
          <p:cNvSpPr/>
          <p:nvPr/>
        </p:nvSpPr>
        <p:spPr>
          <a:xfrm>
            <a:off x="7109460" y="6510528"/>
            <a:ext cx="118872" cy="11887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3" name="Shape 10"/>
          <p:cNvSpPr/>
          <p:nvPr/>
        </p:nvSpPr>
        <p:spPr>
          <a:xfrm>
            <a:off x="7420356" y="6510528"/>
            <a:ext cx="118872" cy="118872"/>
          </a:xfrm>
          <a:prstGeom prst="ellipse">
            <a:avLst/>
          </a:prstGeom>
          <a:solidFill>
            <a:srgbClr val="3BBFBF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Backup slides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622292" y="3977640"/>
            <a:ext cx="118872" cy="118872"/>
          </a:xfrm>
          <a:prstGeom prst="ellipse">
            <a:avLst/>
          </a:prstGeom>
          <a:solidFill>
            <a:srgbClr val="1F5FA8"/>
          </a:solidFill>
          <a:ln/>
        </p:spPr>
      </p:sp>
      <p:sp>
        <p:nvSpPr>
          <p:cNvPr id="4" name="Shape 2"/>
          <p:cNvSpPr/>
          <p:nvPr/>
        </p:nvSpPr>
        <p:spPr>
          <a:xfrm>
            <a:off x="4933188" y="3977640"/>
            <a:ext cx="118872" cy="118872"/>
          </a:xfrm>
          <a:prstGeom prst="ellipse">
            <a:avLst/>
          </a:prstGeom>
          <a:solidFill>
            <a:srgbClr val="7BA7D4"/>
          </a:solidFill>
          <a:ln/>
        </p:spPr>
      </p:sp>
      <p:sp>
        <p:nvSpPr>
          <p:cNvPr id="5" name="Shape 3"/>
          <p:cNvSpPr/>
          <p:nvPr/>
        </p:nvSpPr>
        <p:spPr>
          <a:xfrm>
            <a:off x="5244084" y="3977640"/>
            <a:ext cx="118872" cy="118872"/>
          </a:xfrm>
          <a:prstGeom prst="ellipse">
            <a:avLst/>
          </a:prstGeom>
          <a:solidFill>
            <a:srgbClr val="1A7A3A"/>
          </a:solidFill>
          <a:ln/>
        </p:spPr>
      </p:sp>
      <p:sp>
        <p:nvSpPr>
          <p:cNvPr id="6" name="Shape 4"/>
          <p:cNvSpPr/>
          <p:nvPr/>
        </p:nvSpPr>
        <p:spPr>
          <a:xfrm>
            <a:off x="5554980" y="3977640"/>
            <a:ext cx="118872" cy="118872"/>
          </a:xfrm>
          <a:prstGeom prst="ellipse">
            <a:avLst/>
          </a:prstGeom>
          <a:solidFill>
            <a:srgbClr val="8FBF3F"/>
          </a:solidFill>
          <a:ln/>
        </p:spPr>
      </p:sp>
      <p:sp>
        <p:nvSpPr>
          <p:cNvPr id="7" name="Shape 5"/>
          <p:cNvSpPr/>
          <p:nvPr/>
        </p:nvSpPr>
        <p:spPr>
          <a:xfrm>
            <a:off x="5865876" y="3977640"/>
            <a:ext cx="118872" cy="118872"/>
          </a:xfrm>
          <a:prstGeom prst="ellipse">
            <a:avLst/>
          </a:prstGeom>
          <a:solidFill>
            <a:srgbClr val="7A4BA8"/>
          </a:solidFill>
          <a:ln/>
        </p:spPr>
      </p:sp>
      <p:sp>
        <p:nvSpPr>
          <p:cNvPr id="8" name="Shape 6"/>
          <p:cNvSpPr/>
          <p:nvPr/>
        </p:nvSpPr>
        <p:spPr>
          <a:xfrm>
            <a:off x="6176772" y="3977640"/>
            <a:ext cx="118872" cy="118872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9" name="Shape 7"/>
          <p:cNvSpPr/>
          <p:nvPr/>
        </p:nvSpPr>
        <p:spPr>
          <a:xfrm>
            <a:off x="6487668" y="3977640"/>
            <a:ext cx="118872" cy="118872"/>
          </a:xfrm>
          <a:prstGeom prst="ellipse">
            <a:avLst/>
          </a:prstGeom>
          <a:solidFill>
            <a:srgbClr val="C23B3B"/>
          </a:solidFill>
          <a:ln/>
        </p:spPr>
      </p:sp>
      <p:sp>
        <p:nvSpPr>
          <p:cNvPr id="10" name="Shape 8"/>
          <p:cNvSpPr/>
          <p:nvPr/>
        </p:nvSpPr>
        <p:spPr>
          <a:xfrm>
            <a:off x="6798564" y="3977640"/>
            <a:ext cx="118872" cy="118872"/>
          </a:xfrm>
          <a:prstGeom prst="ellipse">
            <a:avLst/>
          </a:prstGeom>
          <a:solidFill>
            <a:srgbClr val="E0BF1E"/>
          </a:solidFill>
          <a:ln/>
        </p:spPr>
      </p:sp>
      <p:sp>
        <p:nvSpPr>
          <p:cNvPr id="11" name="Shape 9"/>
          <p:cNvSpPr/>
          <p:nvPr/>
        </p:nvSpPr>
        <p:spPr>
          <a:xfrm>
            <a:off x="7109460" y="3977640"/>
            <a:ext cx="118872" cy="11887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2" name="Shape 10"/>
          <p:cNvSpPr/>
          <p:nvPr/>
        </p:nvSpPr>
        <p:spPr>
          <a:xfrm>
            <a:off x="7420356" y="3977640"/>
            <a:ext cx="118872" cy="118872"/>
          </a:xfrm>
          <a:prstGeom prst="ellipse">
            <a:avLst/>
          </a:prstGeom>
          <a:solidFill>
            <a:srgbClr val="3BBFBF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Burrows’s Delta, one level deeper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1874520"/>
            <a:ext cx="10332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of the top-80 words: how far is each text from the corpus-average rate, in standard deviations (a z-score)?</a:t>
            </a:r>
            <a:endParaRPr lang="en-US" sz="1900" dirty="0"/>
          </a:p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Delta(A, B) = the average disagreement of A and B across those words</a:t>
            </a:r>
            <a:endParaRPr lang="en-US" sz="1900" dirty="0"/>
          </a:p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variants in the grid: Cosine Delta (angle instead of average); min-max and Manhattan (raw-frequency geometry)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101 texts and their strata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508760"/>
            <a:ext cx="27432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"/>
              </a:spcAft>
              <a:buNone/>
            </a:pPr>
            <a:r>
              <a:rPr lang="en-US" sz="95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core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MBh1  MBh 1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MBh2  MBh 2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MBh3  MBh 3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MBh4  MBh 4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MBh5  MBh 5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MBh6  MBh 6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MBh7  MBh 7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MBh8  MBh 8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MBh9  MBh 9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MBh10  MBh 10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MBh11  MBh 11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 Rām 2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 Rām 3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 Rām 4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  Rām 5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  Rām 6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50" b="1" dirty="0">
                <a:solidFill>
                  <a:srgbClr val="7BA7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epic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MBh12  MBh 12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MBh13  MBh 13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MBh14  MBh 14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MBh15  MBh 15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MBh16  MBh 16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MBh17  MBh 17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MBh18  MBh 18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 Rām 1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  Rām 7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3429000" y="1508760"/>
            <a:ext cx="27432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"/>
              </a:spcAft>
              <a:buNone/>
            </a:pPr>
            <a:r>
              <a:rPr lang="en-US" sz="950" b="1" dirty="0">
                <a:solidFill>
                  <a:srgbClr val="1A7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purāṇic core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Bḍ  Brahmāṇḍa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Bḍ1  Brahmāṇḍa 1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Bḍ2  Brahmāṇḍa 2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Bḍ3  Brahmāṇḍa 3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Mā  Mārkaṇḍeya 1–93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Mt1  Matsya 1–32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Mt2  Matsya 176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 Vāyu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V×B  Vāyu×BḍP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 Vāyu §1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 Vāyu §2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 Vāyu §3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  Vāyu §4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  Vāyu §5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V6  Vāyu §6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V7  Vāyu §7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 Vāyu §8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V9  Vāyu §9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V10  Vāyu §10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 Viṣṇu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50" b="1" dirty="0">
                <a:solidFill>
                  <a:srgbClr val="8FBF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purāṇic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  Brahma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  Devī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  Kūrma 1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  Kūrma 2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 Liṅga 1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 Liṅga 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63640" y="1508760"/>
            <a:ext cx="27432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Nī  Nīlamata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Nṛ  Nṛsiṃha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 Saromāhātmya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 Viṣṇudharma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 Vāmana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  ViDhUt (exc.)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50" b="1" dirty="0">
                <a:solidFill>
                  <a:srgbClr val="7A4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Skandapurāṇa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 SP (old)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SP1  SP (old) 1–31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SP2  SP (old) Pāśupata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50" b="1" dirty="0">
                <a:solidFill>
                  <a:srgbClr val="E0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sectarian/encyclopedic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Agni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Bhv  Bhaviṣya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Bhv5  Bhaviṣya (adh. 5)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 DevīBhP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 DevīBhP (u)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  Garuḍa 1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  Garuḍa 2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  Garuḍa 3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  Himavatkh. (SkMP)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Kā  Kālikā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Kś  Kāśīkh. (SkMP)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  Karatoyā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N1  Nārada 1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N2  Nārada 2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  Padma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  Revākh. (SkMP)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RvV  Revākh. (Vāyu)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098280" y="1508760"/>
            <a:ext cx="27432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  Saura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Sū  Sūtasaṃhitā 4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50" b="1" dirty="0">
                <a:solidFill>
                  <a:srgbClr val="C2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Śivapurāṇa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  ŚiP Dharma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 ŚiP Kārvaṇa māh.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  ŚiP Rudra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  ŚiP Sanatkumāra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Śt  ŚiP Śatarudra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 ŚiP Umā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Vā  ŚiP Vāyavīya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  ŚiP Vidyeśvara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50" b="1" dirty="0">
                <a:solidFill>
                  <a:srgbClr val="E0B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Bhāgavata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Bh1  BhP 1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Bh2  BhP 2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Bh3  BhP 3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Bh4  BhP 4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Bh5  BhP 5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Bh6  BhP 6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Bh7  BhP 7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Bh8  BhP 8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Bh9  BhP 9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Bh10  BhP 10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Bh11  BhP 11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Bh12  BhP 12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50" b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BhP with commentary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Bh10c  BhP 10 + comm.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50" b="1" dirty="0">
                <a:solidFill>
                  <a:srgbClr val="3B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Śāstra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 Praṇavakalpa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length caveat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1874520"/>
            <a:ext cx="10332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range from a few thousand to hundreds of thousands of words</a:t>
            </a:r>
            <a:endParaRPr lang="en-US" sz="1900" dirty="0"/>
          </a:p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sub-5k-word fragments have noisy profiles → inflated distances, unreliable positions</a:t>
            </a:r>
            <a:endParaRPr lang="en-US" sz="1900" dirty="0"/>
          </a:p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 as small dots on every map; none of the argument rests on them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the lenses disagree — a diagnostic, not a failure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16916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BhP 10.29–33 transmitted with commentary (Bh10c on the maps):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40280"/>
            <a:ext cx="10332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lens: nearest neighbour = Kāśīkhaṇḍa — expelled from the Bhāgavata cluster (commentary vocabulary contaminates word counts)</a:t>
            </a:r>
            <a:endParaRPr lang="en-US" sz="1800" dirty="0"/>
          </a:p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3-gram lens: nearest neighbour = BhP 10 — back inside the family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F5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Lens disagreement flags preprocessing problems — it does not hide them.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Bootstrap consensus tree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[Figure placeholder — regenerate the Cosine Delta consensus tree from ≥ 2026-07-10 runs before including.]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Chronological Stratification in the Epics and Purāṇas</dc:title>
  <dc:subject>PptxGenJS Presentation</dc:subject>
  <dc:creator>Kengo Harimoto</dc:creator>
  <cp:lastModifiedBy>Kengo Harimoto</cp:lastModifiedBy>
  <cp:revision>1</cp:revision>
  <dcterms:created xsi:type="dcterms:W3CDTF">2026-07-13T06:59:39Z</dcterms:created>
  <dcterms:modified xsi:type="dcterms:W3CDTF">2026-07-13T06:59:39Z</dcterms:modified>
</cp:coreProperties>
</file>