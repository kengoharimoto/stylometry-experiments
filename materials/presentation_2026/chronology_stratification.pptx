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 MBh 12 and 13 nicely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more data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 of the Bhāgavata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This map was drawn by counting linguistic habits — nothing else</a:t>
            </a:r>
            <a:endParaRPr lang="en-US" sz="3000" dirty="0"/>
          </a:p>
        </p:txBody>
      </p:sp>
      <p:sp>
        <p:nvSpPr>
          <p:cNvPr id="4" name="Shape 2"/>
          <p:cNvSpPr/>
          <p:nvPr/>
        </p:nvSpPr>
        <p:spPr>
          <a:xfrm>
            <a:off x="822960" y="2011680"/>
            <a:ext cx="6126480" cy="2880360"/>
          </a:xfrm>
          <a:prstGeom prst="roundRect">
            <a:avLst>
              <a:gd name="adj" fmla="val 2222"/>
            </a:avLst>
          </a:prstGeom>
          <a:solidFill>
            <a:srgbClr val="EAF1F9"/>
          </a:solidFill>
          <a:ln w="3175">
            <a:solidFill>
              <a:srgbClr val="EAF1F9"/>
            </a:solidFill>
            <a:prstDash val="solid"/>
          </a:ln>
        </p:spPr>
      </p:sp>
      <p:sp>
        <p:nvSpPr>
          <p:cNvPr id="5" name="Shape 3"/>
          <p:cNvSpPr/>
          <p:nvPr/>
        </p:nvSpPr>
        <p:spPr>
          <a:xfrm>
            <a:off x="1325880" y="2478024"/>
            <a:ext cx="137160" cy="137160"/>
          </a:xfrm>
          <a:prstGeom prst="ellipse">
            <a:avLst/>
          </a:prstGeom>
          <a:solidFill>
            <a:srgbClr val="1F5FA8"/>
          </a:solidFill>
          <a:ln/>
        </p:spPr>
      </p:sp>
      <p:sp>
        <p:nvSpPr>
          <p:cNvPr id="6" name="Text 4"/>
          <p:cNvSpPr/>
          <p:nvPr/>
        </p:nvSpPr>
        <p:spPr>
          <a:xfrm>
            <a:off x="1691640" y="2331720"/>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dates</a:t>
            </a:r>
            <a:endParaRPr lang="en-US" sz="2200" dirty="0"/>
          </a:p>
        </p:txBody>
      </p:sp>
      <p:sp>
        <p:nvSpPr>
          <p:cNvPr id="7" name="Shape 5"/>
          <p:cNvSpPr/>
          <p:nvPr/>
        </p:nvSpPr>
        <p:spPr>
          <a:xfrm>
            <a:off x="1325880" y="3136392"/>
            <a:ext cx="137160" cy="137160"/>
          </a:xfrm>
          <a:prstGeom prst="ellipse">
            <a:avLst/>
          </a:prstGeom>
          <a:solidFill>
            <a:srgbClr val="1F5FA8"/>
          </a:solidFill>
          <a:ln/>
        </p:spPr>
      </p:sp>
      <p:sp>
        <p:nvSpPr>
          <p:cNvPr id="8" name="Text 6"/>
          <p:cNvSpPr/>
          <p:nvPr/>
        </p:nvSpPr>
        <p:spPr>
          <a:xfrm>
            <a:off x="1691640" y="2990088"/>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chronology</a:t>
            </a:r>
            <a:endParaRPr lang="en-US" sz="2200" dirty="0"/>
          </a:p>
        </p:txBody>
      </p:sp>
      <p:sp>
        <p:nvSpPr>
          <p:cNvPr id="9" name="Shape 7"/>
          <p:cNvSpPr/>
          <p:nvPr/>
        </p:nvSpPr>
        <p:spPr>
          <a:xfrm>
            <a:off x="1325880" y="3794760"/>
            <a:ext cx="137160" cy="137160"/>
          </a:xfrm>
          <a:prstGeom prst="ellipse">
            <a:avLst/>
          </a:prstGeom>
          <a:solidFill>
            <a:srgbClr val="1F5FA8"/>
          </a:solidFill>
          <a:ln/>
        </p:spPr>
      </p:sp>
      <p:sp>
        <p:nvSpPr>
          <p:cNvPr id="10" name="Text 8"/>
          <p:cNvSpPr/>
          <p:nvPr/>
        </p:nvSpPr>
        <p:spPr>
          <a:xfrm>
            <a:off x="1691640" y="3648456"/>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philological judgment</a:t>
            </a:r>
            <a:endParaRPr lang="en-US" sz="2200" dirty="0"/>
          </a:p>
        </p:txBody>
      </p:sp>
      <p:sp>
        <p:nvSpPr>
          <p:cNvPr id="11" name="Text 9"/>
          <p:cNvSpPr/>
          <p:nvPr/>
        </p:nvSpPr>
        <p:spPr>
          <a:xfrm>
            <a:off x="1691640" y="4315968"/>
            <a:ext cx="5029200" cy="36576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entered the computation.</a:t>
            </a:r>
            <a:endParaRPr lang="en-US" sz="1500" dirty="0"/>
          </a:p>
        </p:txBody>
      </p:sp>
      <p:sp>
        <p:nvSpPr>
          <p:cNvPr id="12" name="Text 10"/>
          <p:cNvSpPr/>
          <p:nvPr/>
        </p:nvSpPr>
        <p:spPr>
          <a:xfrm>
            <a:off x="7406640" y="2011680"/>
            <a:ext cx="3931920" cy="2880360"/>
          </a:xfrm>
          <a:prstGeom prst="rect">
            <a:avLst/>
          </a:prstGeom>
          <a:noFill/>
          <a:ln/>
        </p:spPr>
        <p:txBody>
          <a:bodyPr wrap="square" lIns="0" tIns="0" rIns="0" bIns="0" rtlCol="0" anchor="ctr"/>
          <a:lstStyle/>
          <a:p>
            <a:pPr indent="0" marL="0">
              <a:buNone/>
            </a:pPr>
            <a:r>
              <a:rPr lang="en-US" sz="2000" i="1" dirty="0">
                <a:solidFill>
                  <a:srgbClr val="555555"/>
                </a:solidFill>
                <a:latin typeface="SF Pro Display" pitchFamily="34" charset="0"/>
                <a:ea typeface="SF Pro Display" pitchFamily="34" charset="-122"/>
                <a:cs typeface="SF Pro Display" pitchFamily="34" charset="-120"/>
              </a:rPr>
              <a:t>The colors were painted on afterwards.</a:t>
            </a:r>
            <a:endParaRPr lang="en-US" sz="2000" dirty="0"/>
          </a:p>
        </p:txBody>
      </p:sp>
      <p:sp>
        <p:nvSpPr>
          <p:cNvPr id="13" name="Text 11"/>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822960" y="2148840"/>
            <a:ext cx="10515600" cy="1463040"/>
          </a:xfrm>
          <a:prstGeom prst="roundRect">
            <a:avLst>
              <a:gd name="adj" fmla="val 4375"/>
            </a:avLst>
          </a:prstGeom>
          <a:solidFill>
            <a:srgbClr val="EAF1F9"/>
          </a:solidFill>
          <a:ln w="3175">
            <a:solidFill>
              <a:srgbClr val="EAF1F9"/>
            </a:solidFill>
            <a:prstDash val="solid"/>
          </a:ln>
        </p:spPr>
      </p:sp>
      <p:sp>
        <p:nvSpPr>
          <p:cNvPr id="5" name="Shape 3"/>
          <p:cNvSpPr/>
          <p:nvPr/>
        </p:nvSpPr>
        <p:spPr>
          <a:xfrm>
            <a:off x="1234440" y="2551176"/>
            <a:ext cx="658368" cy="658368"/>
          </a:xfrm>
          <a:prstGeom prst="ellipse">
            <a:avLst/>
          </a:prstGeom>
          <a:solidFill>
            <a:srgbClr val="1F5FA8"/>
          </a:solidFill>
          <a:ln/>
        </p:spPr>
      </p:sp>
      <p:sp>
        <p:nvSpPr>
          <p:cNvPr id="6" name="Text 4"/>
          <p:cNvSpPr/>
          <p:nvPr/>
        </p:nvSpPr>
        <p:spPr>
          <a:xfrm>
            <a:off x="1234440" y="25511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1</a:t>
            </a:r>
            <a:endParaRPr lang="en-US" sz="2400" dirty="0"/>
          </a:p>
        </p:txBody>
      </p:sp>
      <p:sp>
        <p:nvSpPr>
          <p:cNvPr id="7" name="Text 5"/>
          <p:cNvSpPr/>
          <p:nvPr/>
        </p:nvSpPr>
        <p:spPr>
          <a:xfrm>
            <a:off x="2286000" y="21488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What exactly was counted?</a:t>
            </a:r>
            <a:endParaRPr lang="en-US" sz="2200" dirty="0"/>
          </a:p>
        </p:txBody>
      </p:sp>
      <p:sp>
        <p:nvSpPr>
          <p:cNvPr id="8" name="Shape 6"/>
          <p:cNvSpPr/>
          <p:nvPr/>
        </p:nvSpPr>
        <p:spPr>
          <a:xfrm>
            <a:off x="822960" y="3977640"/>
            <a:ext cx="10515600" cy="1463040"/>
          </a:xfrm>
          <a:prstGeom prst="roundRect">
            <a:avLst>
              <a:gd name="adj" fmla="val 4375"/>
            </a:avLst>
          </a:prstGeom>
          <a:solidFill>
            <a:srgbClr val="EAF1F9"/>
          </a:solidFill>
          <a:ln w="3175">
            <a:solidFill>
              <a:srgbClr val="EAF1F9"/>
            </a:solidFill>
            <a:prstDash val="solid"/>
          </a:ln>
        </p:spPr>
      </p:sp>
      <p:sp>
        <p:nvSpPr>
          <p:cNvPr id="9" name="Shape 7"/>
          <p:cNvSpPr/>
          <p:nvPr/>
        </p:nvSpPr>
        <p:spPr>
          <a:xfrm>
            <a:off x="1234440" y="4379976"/>
            <a:ext cx="658368" cy="658368"/>
          </a:xfrm>
          <a:prstGeom prst="ellipse">
            <a:avLst/>
          </a:prstGeom>
          <a:solidFill>
            <a:srgbClr val="1F5FA8"/>
          </a:solidFill>
          <a:ln/>
        </p:spPr>
      </p:sp>
      <p:sp>
        <p:nvSpPr>
          <p:cNvPr id="10" name="Text 8"/>
          <p:cNvSpPr/>
          <p:nvPr/>
        </p:nvSpPr>
        <p:spPr>
          <a:xfrm>
            <a:off x="1234440" y="43799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2</a:t>
            </a:r>
            <a:endParaRPr lang="en-US" sz="2400" dirty="0"/>
          </a:p>
        </p:txBody>
      </p:sp>
      <p:sp>
        <p:nvSpPr>
          <p:cNvPr id="11" name="Text 9"/>
          <p:cNvSpPr/>
          <p:nvPr/>
        </p:nvSpPr>
        <p:spPr>
          <a:xfrm>
            <a:off x="2286000" y="39776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Can the left–right axis be trusted —</a:t>
            </a:r>
            <a:endParaRPr lang="en-US" sz="2200" dirty="0"/>
          </a:p>
          <a:p>
            <a:pPr indent="0" marL="0">
              <a:buNone/>
            </a:pPr>
            <a:r>
              <a:rPr lang="en-US" sz="2200" dirty="0">
                <a:solidFill>
                  <a:srgbClr val="222222"/>
                </a:solidFill>
                <a:latin typeface="SF Pro Text" pitchFamily="34" charset="0"/>
                <a:ea typeface="SF Pro Text" pitchFamily="34" charset="-122"/>
                <a:cs typeface="SF Pro Text" pitchFamily="34" charset="-120"/>
              </a:rPr>
              <a:t>or is it an artifact of one method?</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Shape 2"/>
          <p:cNvSpPr/>
          <p:nvPr/>
        </p:nvSpPr>
        <p:spPr>
          <a:xfrm>
            <a:off x="822960" y="1783080"/>
            <a:ext cx="3200400" cy="1828800"/>
          </a:xfrm>
          <a:prstGeom prst="roundRect">
            <a:avLst>
              <a:gd name="adj" fmla="val 3500"/>
            </a:avLst>
          </a:prstGeom>
          <a:solidFill>
            <a:srgbClr val="EAF1F9"/>
          </a:solidFill>
          <a:ln w="3175">
            <a:solidFill>
              <a:srgbClr val="EAF1F9"/>
            </a:solidFill>
            <a:prstDash val="solid"/>
          </a:ln>
        </p:spPr>
      </p:sp>
      <p:sp>
        <p:nvSpPr>
          <p:cNvPr id="5" name="Text 3"/>
          <p:cNvSpPr/>
          <p:nvPr/>
        </p:nvSpPr>
        <p:spPr>
          <a:xfrm>
            <a:off x="8229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111</a:t>
            </a:r>
            <a:endParaRPr lang="en-US" sz="4400" dirty="0"/>
          </a:p>
        </p:txBody>
      </p:sp>
      <p:sp>
        <p:nvSpPr>
          <p:cNvPr id="6" name="Text 4"/>
          <p:cNvSpPr/>
          <p:nvPr/>
        </p:nvSpPr>
        <p:spPr>
          <a:xfrm>
            <a:off x="9601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texts and sections</a:t>
            </a:r>
            <a:endParaRPr lang="en-US" sz="1400" dirty="0"/>
          </a:p>
        </p:txBody>
      </p:sp>
      <p:sp>
        <p:nvSpPr>
          <p:cNvPr id="7" name="Shape 5"/>
          <p:cNvSpPr/>
          <p:nvPr/>
        </p:nvSpPr>
        <p:spPr>
          <a:xfrm>
            <a:off x="4480560" y="1783080"/>
            <a:ext cx="3200400" cy="1828800"/>
          </a:xfrm>
          <a:prstGeom prst="roundRect">
            <a:avLst>
              <a:gd name="adj" fmla="val 3500"/>
            </a:avLst>
          </a:prstGeom>
          <a:solidFill>
            <a:srgbClr val="EAF1F9"/>
          </a:solidFill>
          <a:ln w="3175">
            <a:solidFill>
              <a:srgbClr val="EAF1F9"/>
            </a:solidFill>
            <a:prstDash val="solid"/>
          </a:ln>
        </p:spPr>
      </p:sp>
      <p:sp>
        <p:nvSpPr>
          <p:cNvPr id="8" name="Text 6"/>
          <p:cNvSpPr/>
          <p:nvPr/>
        </p:nvSpPr>
        <p:spPr>
          <a:xfrm>
            <a:off x="44805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4.8 M</a:t>
            </a:r>
            <a:endParaRPr lang="en-US" sz="4400" dirty="0"/>
          </a:p>
        </p:txBody>
      </p:sp>
      <p:sp>
        <p:nvSpPr>
          <p:cNvPr id="9" name="Text 7"/>
          <p:cNvSpPr/>
          <p:nvPr/>
        </p:nvSpPr>
        <p:spPr>
          <a:xfrm>
            <a:off x="46177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running words</a:t>
            </a:r>
            <a:endParaRPr lang="en-US" sz="1400" dirty="0"/>
          </a:p>
        </p:txBody>
      </p:sp>
      <p:sp>
        <p:nvSpPr>
          <p:cNvPr id="10" name="Shape 8"/>
          <p:cNvSpPr/>
          <p:nvPr/>
        </p:nvSpPr>
        <p:spPr>
          <a:xfrm>
            <a:off x="8138160" y="1783080"/>
            <a:ext cx="3200400" cy="1828800"/>
          </a:xfrm>
          <a:prstGeom prst="roundRect">
            <a:avLst>
              <a:gd name="adj" fmla="val 3500"/>
            </a:avLst>
          </a:prstGeom>
          <a:solidFill>
            <a:srgbClr val="EAF1F9"/>
          </a:solidFill>
          <a:ln w="3175">
            <a:solidFill>
              <a:srgbClr val="EAF1F9"/>
            </a:solidFill>
            <a:prstDash val="solid"/>
          </a:ln>
        </p:spPr>
      </p:sp>
      <p:sp>
        <p:nvSpPr>
          <p:cNvPr id="11" name="Text 9"/>
          <p:cNvSpPr/>
          <p:nvPr/>
        </p:nvSpPr>
        <p:spPr>
          <a:xfrm>
            <a:off x="81381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2</a:t>
            </a:r>
            <a:endParaRPr lang="en-US" sz="4400" dirty="0"/>
          </a:p>
        </p:txBody>
      </p:sp>
      <p:sp>
        <p:nvSpPr>
          <p:cNvPr id="12" name="Text 10"/>
          <p:cNvSpPr/>
          <p:nvPr/>
        </p:nvSpPr>
        <p:spPr>
          <a:xfrm>
            <a:off x="82753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parallel versions:</a:t>
            </a:r>
            <a:endParaRPr lang="en-US" sz="1400" dirty="0"/>
          </a:p>
          <a:p>
            <a:pPr algn="ctr" indent="0" marL="0">
              <a:buNone/>
            </a:pPr>
            <a:r>
              <a:rPr lang="en-US" sz="1400" dirty="0">
                <a:solidFill>
                  <a:srgbClr val="555555"/>
                </a:solidFill>
                <a:latin typeface="SF Pro Text" pitchFamily="34" charset="0"/>
                <a:ea typeface="SF Pro Text" pitchFamily="34" charset="-122"/>
                <a:cs typeface="SF Pro Text" pitchFamily="34" charset="-120"/>
              </a:rPr>
              <a:t>sandhied · unsandhied</a:t>
            </a:r>
            <a:endParaRPr lang="en-US" sz="1400" dirty="0"/>
          </a:p>
        </p:txBody>
      </p:sp>
      <p:sp>
        <p:nvSpPr>
          <p:cNvPr id="13" name="Text 11"/>
          <p:cNvSpPr/>
          <p:nvPr/>
        </p:nvSpPr>
        <p:spPr>
          <a:xfrm>
            <a:off x="1554480" y="4114800"/>
            <a:ext cx="9418320" cy="1325880"/>
          </a:xfrm>
          <a:prstGeom prst="rect">
            <a:avLst/>
          </a:prstGeom>
          <a:noFill/>
          <a:ln/>
        </p:spPr>
        <p:txBody>
          <a:bodyPr wrap="square" rtlCol="0" anchor="ctr"/>
          <a:lstStyle/>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machine-readable editions, cleaned</a:t>
            </a:r>
            <a:endParaRPr lang="en-US" sz="1800" dirty="0"/>
          </a:p>
        </p:txBody>
      </p:sp>
      <p:sp>
        <p:nvSpPr>
          <p:cNvPr id="14" name="Text 12"/>
          <p:cNvSpPr/>
          <p:nvPr/>
        </p:nvSpPr>
        <p:spPr>
          <a:xfrm>
            <a:off x="1554480" y="5715000"/>
            <a:ext cx="9418320" cy="548640"/>
          </a:xfrm>
          <a:prstGeom prst="rect">
            <a:avLst/>
          </a:prstGeom>
          <a:noFill/>
          <a:ln/>
        </p:spPr>
        <p:txBody>
          <a:bodyPr wrap="square" lIns="0" tIns="0" rIns="0" bIns="0" rtlCol="0" anchor="ctr"/>
          <a:lstStyle/>
          <a:p>
            <a:pPr indent="0" marL="0">
              <a:buNone/>
            </a:pPr>
            <a:r>
              <a:rPr lang="en-US" sz="135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645920"/>
            <a:ext cx="5669280" cy="4754880"/>
          </a:xfrm>
          <a:prstGeom prst="rect">
            <a:avLst/>
          </a:prstGeom>
          <a:noFill/>
          <a:ln/>
        </p:spPr>
        <p:txBody>
          <a:bodyPr wrap="square" rtlCol="0" anchor="ctr"/>
          <a:lstStyle/>
          <a:p>
            <a:pPr indent="0" marL="0">
              <a:spcAft>
                <a:spcPts val="10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800" dirty="0"/>
          </a:p>
          <a:p>
            <a:pPr indent="0" marL="0">
              <a:spcAft>
                <a:spcPts val="10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800" dirty="0"/>
          </a:p>
          <a:p>
            <a:pPr indent="0" marL="0">
              <a:spcAft>
                <a:spcPts val="1000"/>
              </a:spcAft>
              <a:buNone/>
            </a:pP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similar habits  →  small number</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different habits  →  large number</a:t>
            </a:r>
            <a:endParaRPr lang="en-US" sz="1800" dirty="0"/>
          </a:p>
          <a:p>
            <a:pPr indent="0" marL="0">
              <a:spcAft>
                <a:spcPts val="1000"/>
              </a:spcAft>
              <a:buNone/>
            </a:pPr>
            <a:endParaRPr lang="en-US" sz="1800" dirty="0"/>
          </a:p>
          <a:p>
            <a:pPr indent="0" marL="0">
              <a:spcAft>
                <a:spcPts val="10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800" dirty="0"/>
          </a:p>
          <a:p>
            <a:pPr indent="0" marL="0">
              <a:spcAft>
                <a:spcPts val="1000"/>
              </a:spcAft>
              <a:buNone/>
            </a:pPr>
            <a:r>
              <a:rPr lang="en-US" sz="135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2697480"/>
          <a:ext cx="4754880" cy="914400"/>
        </p:xfrm>
        <a:graphic>
          <a:graphicData uri="http://schemas.openxmlformats.org/drawingml/2006/table">
            <a:tbl>
              <a:tblPr/>
              <a:tblGrid>
                <a:gridCol w="3474720"/>
                <a:gridCol w="1280160"/>
              </a:tblGrid>
              <a:tr h="530352">
                <a:tc>
                  <a:txBody>
                    <a:bodyPr/>
                    <a:lstStyle/>
                    <a:p>
                      <a:pPr indent="0" marL="0">
                        <a:buNone/>
                      </a:pPr>
                      <a:r>
                        <a:rPr lang="en-US" sz="1500" b="1" dirty="0">
                          <a:solidFill>
                            <a:srgbClr val="16324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500" b="1" dirty="0">
                          <a:solidFill>
                            <a:srgbClr val="16324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48840"/>
          <a:ext cx="9784080" cy="914400"/>
        </p:xfrm>
        <a:graphic>
          <a:graphicData uri="http://schemas.openxmlformats.org/drawingml/2006/table">
            <a:tbl>
              <a:tblPr/>
              <a:tblGrid>
                <a:gridCol w="1371600"/>
                <a:gridCol w="4206240"/>
                <a:gridCol w="4206240"/>
              </a:tblGrid>
              <a:tr h="713232">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
        <p:nvSpPr>
          <p:cNvPr id="5" name="Text 2"/>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Independent failure modes: nothing that could fool one lens can fool the other.</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Matsya’s cosmogonic chapters sit with them</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archaic features noticed for over a century (Michelson 1909; Meier 1931; van Buitenen 1966) — and a date that has never stopped being disputed</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counts find two layers that do not match: bulk habits that are epic, not purāṇic — and a thin, even layer of Vedic particles (aṅga, bata, vāva) found nowhere else in the corpus</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Shape 2"/>
          <p:cNvSpPr/>
          <p:nvPr/>
        </p:nvSpPr>
        <p:spPr>
          <a:xfrm>
            <a:off x="822960" y="1892808"/>
            <a:ext cx="10698480" cy="786384"/>
          </a:xfrm>
          <a:prstGeom prst="roundRect">
            <a:avLst>
              <a:gd name="adj" fmla="val 8140"/>
            </a:avLst>
          </a:prstGeom>
          <a:solidFill>
            <a:srgbClr val="F4F8FC"/>
          </a:solidFill>
          <a:ln w="3175">
            <a:solidFill>
              <a:srgbClr val="F4F8FC"/>
            </a:solidFill>
            <a:prstDash val="solid"/>
          </a:ln>
        </p:spPr>
      </p:sp>
      <p:sp>
        <p:nvSpPr>
          <p:cNvPr id="5" name="Text 3"/>
          <p:cNvSpPr/>
          <p:nvPr/>
        </p:nvSpPr>
        <p:spPr>
          <a:xfrm>
            <a:off x="1143000" y="19659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6" name="Text 4"/>
          <p:cNvSpPr/>
          <p:nvPr/>
        </p:nvSpPr>
        <p:spPr>
          <a:xfrm>
            <a:off x="5669280" y="19659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7" name="Text 5"/>
          <p:cNvSpPr/>
          <p:nvPr/>
        </p:nvSpPr>
        <p:spPr>
          <a:xfrm>
            <a:off x="6400800" y="19659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8" name="Text 6"/>
          <p:cNvSpPr/>
          <p:nvPr/>
        </p:nvSpPr>
        <p:spPr>
          <a:xfrm>
            <a:off x="1143000" y="28803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9" name="Text 7"/>
          <p:cNvSpPr/>
          <p:nvPr/>
        </p:nvSpPr>
        <p:spPr>
          <a:xfrm>
            <a:off x="5669280" y="28803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0" name="Text 8"/>
          <p:cNvSpPr/>
          <p:nvPr/>
        </p:nvSpPr>
        <p:spPr>
          <a:xfrm>
            <a:off x="6400800" y="28803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1" name="Shape 9"/>
          <p:cNvSpPr/>
          <p:nvPr/>
        </p:nvSpPr>
        <p:spPr>
          <a:xfrm>
            <a:off x="822960" y="3721608"/>
            <a:ext cx="10698480" cy="786384"/>
          </a:xfrm>
          <a:prstGeom prst="roundRect">
            <a:avLst>
              <a:gd name="adj" fmla="val 8140"/>
            </a:avLst>
          </a:prstGeom>
          <a:solidFill>
            <a:srgbClr val="F4F8FC"/>
          </a:solidFill>
          <a:ln w="3175">
            <a:solidFill>
              <a:srgbClr val="F4F8FC"/>
            </a:solidFill>
            <a:prstDash val="solid"/>
          </a:ln>
        </p:spPr>
      </p:sp>
      <p:sp>
        <p:nvSpPr>
          <p:cNvPr id="12" name="Text 10"/>
          <p:cNvSpPr/>
          <p:nvPr/>
        </p:nvSpPr>
        <p:spPr>
          <a:xfrm>
            <a:off x="1143000" y="37947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3" name="Text 11"/>
          <p:cNvSpPr/>
          <p:nvPr/>
        </p:nvSpPr>
        <p:spPr>
          <a:xfrm>
            <a:off x="5669280" y="37947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4" name="Text 12"/>
          <p:cNvSpPr/>
          <p:nvPr/>
        </p:nvSpPr>
        <p:spPr>
          <a:xfrm>
            <a:off x="6400800" y="37947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5" name="Text 13"/>
          <p:cNvSpPr/>
          <p:nvPr/>
        </p:nvSpPr>
        <p:spPr>
          <a:xfrm>
            <a:off x="822960" y="5175504"/>
            <a:ext cx="10515600" cy="411480"/>
          </a:xfrm>
          <a:prstGeom prst="rect">
            <a:avLst/>
          </a:prstGeom>
          <a:noFill/>
          <a:ln/>
        </p:spPr>
        <p:txBody>
          <a:bodyPr wrap="square" lIns="0" tIns="0" rIns="0" bIns="0" rtlCol="0" anchor="ctr"/>
          <a:lstStyle/>
          <a:p>
            <a:pPr algn="ctr" indent="0" marL="0">
              <a:buNone/>
            </a:pPr>
            <a:r>
              <a:rPr lang="en-US" sz="1600" dirty="0">
                <a:solidFill>
                  <a:srgbClr val="555555"/>
                </a:solidFill>
                <a:latin typeface="SF Pro Text" pitchFamily="34" charset="0"/>
                <a:ea typeface="SF Pro Text" pitchFamily="34" charset="-122"/>
                <a:cs typeface="SF Pro Text" pitchFamily="34" charset="-120"/>
              </a:rPr>
              <a:t>The lenses share almost no assumptions — yet draw the same axis.</a:t>
            </a:r>
            <a:endParaRPr lang="en-US" sz="1600" dirty="0"/>
          </a:p>
        </p:txBody>
      </p:sp>
      <p:sp>
        <p:nvSpPr>
          <p:cNvPr id="16" name="Text 14"/>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800" b="1" dirty="0">
                <a:solidFill>
                  <a:srgbClr val="1F5FA8"/>
                </a:solidFill>
                <a:latin typeface="SF Pro Display" pitchFamily="34" charset="0"/>
                <a:ea typeface="SF Pro Display" pitchFamily="34" charset="-122"/>
                <a:cs typeface="SF Pro Display" pitchFamily="34" charset="-120"/>
              </a:rPr>
              <a:t>The signal is in the texts.</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148840"/>
            <a:ext cx="10332720" cy="182880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Shape 3"/>
          <p:cNvSpPr/>
          <p:nvPr/>
        </p:nvSpPr>
        <p:spPr>
          <a:xfrm>
            <a:off x="2011680" y="4572000"/>
            <a:ext cx="8138160" cy="1508760"/>
          </a:xfrm>
          <a:prstGeom prst="roundRect">
            <a:avLst>
              <a:gd name="adj" fmla="val 4242"/>
            </a:avLst>
          </a:prstGeom>
          <a:solidFill>
            <a:srgbClr val="EAF1F9"/>
          </a:solidFill>
          <a:ln w="3175">
            <a:solidFill>
              <a:srgbClr val="EAF1F9"/>
            </a:solidFill>
            <a:prstDash val="solid"/>
          </a:ln>
        </p:spPr>
      </p:sp>
      <p:sp>
        <p:nvSpPr>
          <p:cNvPr id="6" name="Text 4"/>
          <p:cNvSpPr/>
          <p:nvPr/>
        </p:nvSpPr>
        <p:spPr>
          <a:xfrm>
            <a:off x="2011680" y="4572000"/>
            <a:ext cx="8138160" cy="150876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12848"/>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023360" y="2212848"/>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00400"/>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023360" y="3200400"/>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187952"/>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023360" y="4187952"/>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822960" y="5349240"/>
            <a:ext cx="10515600" cy="1097280"/>
          </a:xfrm>
          <a:prstGeom prst="roundRect">
            <a:avLst>
              <a:gd name="adj" fmla="val 5833"/>
            </a:avLst>
          </a:prstGeom>
          <a:solidFill>
            <a:srgbClr val="F4F8FC"/>
          </a:solidFill>
          <a:ln w="3175">
            <a:solidFill>
              <a:srgbClr val="F4F8FC"/>
            </a:solidFill>
            <a:prstDash val="solid"/>
          </a:ln>
        </p:spPr>
      </p:sp>
      <p:sp>
        <p:nvSpPr>
          <p:cNvPr id="12" name="Text 10"/>
          <p:cNvSpPr/>
          <p:nvPr/>
        </p:nvSpPr>
        <p:spPr>
          <a:xfrm>
            <a:off x="1097280" y="5349240"/>
            <a:ext cx="9966960" cy="109728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 exactly the parvans whose relative dates are contested. And look at where the Śivadharmaśāstra and the Śivadharmottara are positioned: the purāṇas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2103120"/>
            <a:ext cx="10332720" cy="4389120"/>
          </a:xfrm>
          <a:prstGeom prst="rect">
            <a:avLst/>
          </a:prstGeom>
          <a:noFill/>
          <a:ln/>
        </p:spPr>
        <p:txBody>
          <a:bodyPr wrap="square" rtlCol="0" anchor="t"/>
          <a:lstStyle/>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600" dirty="0"/>
          </a:p>
          <a:p>
            <a:pPr algn="ctr" indent="0" marL="0">
              <a:spcAft>
                <a:spcPts val="1600"/>
              </a:spcAft>
              <a:buNone/>
            </a:pPr>
            <a:r>
              <a:rPr lang="en-US" sz="1900" dirty="0">
                <a:solidFill>
                  <a:srgbClr val="1F5FA8"/>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900" b="1" dirty="0">
                <a:solidFill>
                  <a:srgbClr val="1F5FA8"/>
                </a:solidFill>
                <a:latin typeface="SF Pro Text" pitchFamily="34" charset="0"/>
                <a:ea typeface="SF Pro Text" pitchFamily="34" charset="-122"/>
                <a:cs typeface="SF Pro Text" pitchFamily="34" charset="-120"/>
              </a:rPr>
              <a:t>whose company it keeps</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2026-07-26T07:32:38Z</dcterms:created>
  <dcterms:modified xsi:type="dcterms:W3CDTF">2026-07-26T07:32:38Z</dcterms:modified>
</cp:coreProperties>
</file>